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7" r:id="rId3"/>
    <p:sldId id="291" r:id="rId4"/>
    <p:sldId id="258" r:id="rId5"/>
    <p:sldId id="259" r:id="rId6"/>
    <p:sldId id="274" r:id="rId7"/>
    <p:sldId id="272" r:id="rId8"/>
    <p:sldId id="275" r:id="rId9"/>
    <p:sldId id="260" r:id="rId10"/>
    <p:sldId id="276" r:id="rId11"/>
    <p:sldId id="278" r:id="rId12"/>
    <p:sldId id="277" r:id="rId13"/>
    <p:sldId id="279" r:id="rId14"/>
    <p:sldId id="261" r:id="rId15"/>
    <p:sldId id="264" r:id="rId16"/>
    <p:sldId id="285" r:id="rId17"/>
    <p:sldId id="286" r:id="rId18"/>
    <p:sldId id="287" r:id="rId19"/>
    <p:sldId id="289" r:id="rId20"/>
    <p:sldId id="290" r:id="rId21"/>
    <p:sldId id="273" r:id="rId22"/>
    <p:sldId id="268" r:id="rId23"/>
    <p:sldId id="281" r:id="rId24"/>
    <p:sldId id="282" r:id="rId25"/>
    <p:sldId id="284" r:id="rId26"/>
    <p:sldId id="288" r:id="rId27"/>
    <p:sldId id="293" r:id="rId28"/>
    <p:sldId id="292" r:id="rId29"/>
    <p:sldId id="267" r:id="rId30"/>
    <p:sldId id="26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p:cViewPr>
        <p:scale>
          <a:sx n="62" d="100"/>
          <a:sy n="62" d="100"/>
        </p:scale>
        <p:origin x="704"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3479AC-E5DF-4148-B698-67B75E86E93E}" type="datetimeFigureOut">
              <a:rPr lang="en-IN" smtClean="0"/>
              <a:t>02-12-2024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DEE7BC-DFFA-478A-B946-1930DA2AB831}" type="slidenum">
              <a:rPr lang="en-IN" smtClean="0"/>
              <a:t>‹#›</a:t>
            </a:fld>
            <a:endParaRPr lang="en-IN"/>
          </a:p>
        </p:txBody>
      </p:sp>
    </p:spTree>
    <p:extLst>
      <p:ext uri="{BB962C8B-B14F-4D97-AF65-F5344CB8AC3E}">
        <p14:creationId xmlns:p14="http://schemas.microsoft.com/office/powerpoint/2010/main" val="343324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ADEE7BC-DFFA-478A-B946-1930DA2AB831}" type="slidenum">
              <a:rPr lang="en-IN" smtClean="0"/>
              <a:t>1</a:t>
            </a:fld>
            <a:endParaRPr lang="en-IN"/>
          </a:p>
        </p:txBody>
      </p:sp>
    </p:spTree>
    <p:extLst>
      <p:ext uri="{BB962C8B-B14F-4D97-AF65-F5344CB8AC3E}">
        <p14:creationId xmlns:p14="http://schemas.microsoft.com/office/powerpoint/2010/main" val="16229653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C4063-4ECC-DB5B-BB25-640D7DA906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1D93632-6244-E3F2-394B-E47A92D097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3FAEDA9-EEBB-16AE-A543-D8B5DCDBC1F4}"/>
              </a:ext>
            </a:extLst>
          </p:cNvPr>
          <p:cNvSpPr>
            <a:spLocks noGrp="1"/>
          </p:cNvSpPr>
          <p:nvPr>
            <p:ph type="dt" sz="half" idx="10"/>
          </p:nvPr>
        </p:nvSpPr>
        <p:spPr/>
        <p:txBody>
          <a:bodyPr/>
          <a:lstStyle/>
          <a:p>
            <a:fld id="{A8D9E25E-0982-45C8-9A75-EE9BCB65FDAD}" type="datetimeFigureOut">
              <a:rPr lang="en-IN" smtClean="0"/>
              <a:t>02-12-2024</a:t>
            </a:fld>
            <a:endParaRPr lang="en-IN"/>
          </a:p>
        </p:txBody>
      </p:sp>
      <p:sp>
        <p:nvSpPr>
          <p:cNvPr id="5" name="Footer Placeholder 4">
            <a:extLst>
              <a:ext uri="{FF2B5EF4-FFF2-40B4-BE49-F238E27FC236}">
                <a16:creationId xmlns:a16="http://schemas.microsoft.com/office/drawing/2014/main" id="{B69BB6C7-50B2-F841-60C9-08DD11D1FA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50E778-C10E-4296-552E-3EDA6CECE78B}"/>
              </a:ext>
            </a:extLst>
          </p:cNvPr>
          <p:cNvSpPr>
            <a:spLocks noGrp="1"/>
          </p:cNvSpPr>
          <p:nvPr>
            <p:ph type="sldNum" sz="quarter" idx="12"/>
          </p:nvPr>
        </p:nvSpPr>
        <p:spPr/>
        <p:txBody>
          <a:bodyPr/>
          <a:lstStyle/>
          <a:p>
            <a:fld id="{C0DE63B4-695B-419E-90D0-510AE5F84AE7}" type="slidenum">
              <a:rPr lang="en-IN" smtClean="0"/>
              <a:t>‹#›</a:t>
            </a:fld>
            <a:endParaRPr lang="en-IN"/>
          </a:p>
        </p:txBody>
      </p:sp>
    </p:spTree>
    <p:extLst>
      <p:ext uri="{BB962C8B-B14F-4D97-AF65-F5344CB8AC3E}">
        <p14:creationId xmlns:p14="http://schemas.microsoft.com/office/powerpoint/2010/main" val="3206687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B53C1-2490-3C5C-0025-9A9554FC50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774B359-8B18-03B2-82C0-44888B8351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954A04-75BE-807C-31B8-3AB43A1A218A}"/>
              </a:ext>
            </a:extLst>
          </p:cNvPr>
          <p:cNvSpPr>
            <a:spLocks noGrp="1"/>
          </p:cNvSpPr>
          <p:nvPr>
            <p:ph type="dt" sz="half" idx="10"/>
          </p:nvPr>
        </p:nvSpPr>
        <p:spPr/>
        <p:txBody>
          <a:bodyPr/>
          <a:lstStyle/>
          <a:p>
            <a:fld id="{A8D9E25E-0982-45C8-9A75-EE9BCB65FDAD}" type="datetimeFigureOut">
              <a:rPr lang="en-IN" smtClean="0"/>
              <a:t>02-12-2024</a:t>
            </a:fld>
            <a:endParaRPr lang="en-IN"/>
          </a:p>
        </p:txBody>
      </p:sp>
      <p:sp>
        <p:nvSpPr>
          <p:cNvPr id="5" name="Footer Placeholder 4">
            <a:extLst>
              <a:ext uri="{FF2B5EF4-FFF2-40B4-BE49-F238E27FC236}">
                <a16:creationId xmlns:a16="http://schemas.microsoft.com/office/drawing/2014/main" id="{2DCA1BDC-0AD4-B7E9-B27E-76D8765346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B55A48-CB28-D792-23DC-64832FC1A42E}"/>
              </a:ext>
            </a:extLst>
          </p:cNvPr>
          <p:cNvSpPr>
            <a:spLocks noGrp="1"/>
          </p:cNvSpPr>
          <p:nvPr>
            <p:ph type="sldNum" sz="quarter" idx="12"/>
          </p:nvPr>
        </p:nvSpPr>
        <p:spPr/>
        <p:txBody>
          <a:bodyPr/>
          <a:lstStyle/>
          <a:p>
            <a:fld id="{C0DE63B4-695B-419E-90D0-510AE5F84AE7}" type="slidenum">
              <a:rPr lang="en-IN" smtClean="0"/>
              <a:t>‹#›</a:t>
            </a:fld>
            <a:endParaRPr lang="en-IN"/>
          </a:p>
        </p:txBody>
      </p:sp>
    </p:spTree>
    <p:extLst>
      <p:ext uri="{BB962C8B-B14F-4D97-AF65-F5344CB8AC3E}">
        <p14:creationId xmlns:p14="http://schemas.microsoft.com/office/powerpoint/2010/main" val="29912135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86F3C-0D98-7564-B989-16B39F9D1A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EDCDF5A-D093-C347-07AB-3515A67FCF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656712-C48C-D98C-62B3-0716FC76556C}"/>
              </a:ext>
            </a:extLst>
          </p:cNvPr>
          <p:cNvSpPr>
            <a:spLocks noGrp="1"/>
          </p:cNvSpPr>
          <p:nvPr>
            <p:ph type="dt" sz="half" idx="10"/>
          </p:nvPr>
        </p:nvSpPr>
        <p:spPr/>
        <p:txBody>
          <a:bodyPr/>
          <a:lstStyle/>
          <a:p>
            <a:fld id="{A8D9E25E-0982-45C8-9A75-EE9BCB65FDAD}" type="datetimeFigureOut">
              <a:rPr lang="en-IN" smtClean="0"/>
              <a:t>02-12-2024</a:t>
            </a:fld>
            <a:endParaRPr lang="en-IN"/>
          </a:p>
        </p:txBody>
      </p:sp>
      <p:sp>
        <p:nvSpPr>
          <p:cNvPr id="5" name="Footer Placeholder 4">
            <a:extLst>
              <a:ext uri="{FF2B5EF4-FFF2-40B4-BE49-F238E27FC236}">
                <a16:creationId xmlns:a16="http://schemas.microsoft.com/office/drawing/2014/main" id="{D350743B-BD44-C028-0503-702CB84698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FDBFCF-50C0-700C-6369-167A39CD8678}"/>
              </a:ext>
            </a:extLst>
          </p:cNvPr>
          <p:cNvSpPr>
            <a:spLocks noGrp="1"/>
          </p:cNvSpPr>
          <p:nvPr>
            <p:ph type="sldNum" sz="quarter" idx="12"/>
          </p:nvPr>
        </p:nvSpPr>
        <p:spPr/>
        <p:txBody>
          <a:bodyPr/>
          <a:lstStyle/>
          <a:p>
            <a:fld id="{C0DE63B4-695B-419E-90D0-510AE5F84AE7}" type="slidenum">
              <a:rPr lang="en-IN" smtClean="0"/>
              <a:t>‹#›</a:t>
            </a:fld>
            <a:endParaRPr lang="en-IN"/>
          </a:p>
        </p:txBody>
      </p:sp>
    </p:spTree>
    <p:extLst>
      <p:ext uri="{BB962C8B-B14F-4D97-AF65-F5344CB8AC3E}">
        <p14:creationId xmlns:p14="http://schemas.microsoft.com/office/powerpoint/2010/main" val="3391970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5D794-BA52-AF81-2ECF-A9F6B7EC83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573734-BF8E-D29B-B9F3-B7BBF4C8D5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C197549-B42C-933C-142C-DFFA708788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BB121F9-5468-BFFD-2673-F827FACEA74E}"/>
              </a:ext>
            </a:extLst>
          </p:cNvPr>
          <p:cNvSpPr>
            <a:spLocks noGrp="1"/>
          </p:cNvSpPr>
          <p:nvPr>
            <p:ph type="dt" sz="half" idx="10"/>
          </p:nvPr>
        </p:nvSpPr>
        <p:spPr/>
        <p:txBody>
          <a:bodyPr/>
          <a:lstStyle/>
          <a:p>
            <a:fld id="{A8D9E25E-0982-45C8-9A75-EE9BCB65FDAD}" type="datetimeFigureOut">
              <a:rPr lang="en-IN" smtClean="0"/>
              <a:t>02-12-2024</a:t>
            </a:fld>
            <a:endParaRPr lang="en-IN"/>
          </a:p>
        </p:txBody>
      </p:sp>
      <p:sp>
        <p:nvSpPr>
          <p:cNvPr id="6" name="Footer Placeholder 5">
            <a:extLst>
              <a:ext uri="{FF2B5EF4-FFF2-40B4-BE49-F238E27FC236}">
                <a16:creationId xmlns:a16="http://schemas.microsoft.com/office/drawing/2014/main" id="{637B87C5-AF37-2858-5D5D-8AF2865C12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5D844F-6A1D-4369-B0D4-9938ACE4847D}"/>
              </a:ext>
            </a:extLst>
          </p:cNvPr>
          <p:cNvSpPr>
            <a:spLocks noGrp="1"/>
          </p:cNvSpPr>
          <p:nvPr>
            <p:ph type="sldNum" sz="quarter" idx="12"/>
          </p:nvPr>
        </p:nvSpPr>
        <p:spPr/>
        <p:txBody>
          <a:bodyPr/>
          <a:lstStyle/>
          <a:p>
            <a:fld id="{C0DE63B4-695B-419E-90D0-510AE5F84AE7}" type="slidenum">
              <a:rPr lang="en-IN" smtClean="0"/>
              <a:t>‹#›</a:t>
            </a:fld>
            <a:endParaRPr lang="en-IN"/>
          </a:p>
        </p:txBody>
      </p:sp>
    </p:spTree>
    <p:extLst>
      <p:ext uri="{BB962C8B-B14F-4D97-AF65-F5344CB8AC3E}">
        <p14:creationId xmlns:p14="http://schemas.microsoft.com/office/powerpoint/2010/main" val="3523300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E4FE-5C60-234B-2BC0-1E4EBA89302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E0CF84-C823-C198-D09F-F79C1D9F58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AF5ACD-3D05-2C2D-1DDC-7B26C36E20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C033D5A-813F-360D-1370-AF2C656986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3AD4E3-37F8-E0B7-3281-AFBF1526CD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87FA04-28BB-2ED8-5737-D9E7F37A06CC}"/>
              </a:ext>
            </a:extLst>
          </p:cNvPr>
          <p:cNvSpPr>
            <a:spLocks noGrp="1"/>
          </p:cNvSpPr>
          <p:nvPr>
            <p:ph type="dt" sz="half" idx="10"/>
          </p:nvPr>
        </p:nvSpPr>
        <p:spPr/>
        <p:txBody>
          <a:bodyPr/>
          <a:lstStyle/>
          <a:p>
            <a:fld id="{A8D9E25E-0982-45C8-9A75-EE9BCB65FDAD}" type="datetimeFigureOut">
              <a:rPr lang="en-IN" smtClean="0"/>
              <a:t>02-12-2024</a:t>
            </a:fld>
            <a:endParaRPr lang="en-IN"/>
          </a:p>
        </p:txBody>
      </p:sp>
      <p:sp>
        <p:nvSpPr>
          <p:cNvPr id="8" name="Footer Placeholder 7">
            <a:extLst>
              <a:ext uri="{FF2B5EF4-FFF2-40B4-BE49-F238E27FC236}">
                <a16:creationId xmlns:a16="http://schemas.microsoft.com/office/drawing/2014/main" id="{AE4B898F-3C60-5FB1-B1AC-0517CF60F19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9BF2777-B54E-7047-A000-1EC94DC3E620}"/>
              </a:ext>
            </a:extLst>
          </p:cNvPr>
          <p:cNvSpPr>
            <a:spLocks noGrp="1"/>
          </p:cNvSpPr>
          <p:nvPr>
            <p:ph type="sldNum" sz="quarter" idx="12"/>
          </p:nvPr>
        </p:nvSpPr>
        <p:spPr/>
        <p:txBody>
          <a:bodyPr/>
          <a:lstStyle/>
          <a:p>
            <a:fld id="{C0DE63B4-695B-419E-90D0-510AE5F84AE7}" type="slidenum">
              <a:rPr lang="en-IN" smtClean="0"/>
              <a:t>‹#›</a:t>
            </a:fld>
            <a:endParaRPr lang="en-IN"/>
          </a:p>
        </p:txBody>
      </p:sp>
    </p:spTree>
    <p:extLst>
      <p:ext uri="{BB962C8B-B14F-4D97-AF65-F5344CB8AC3E}">
        <p14:creationId xmlns:p14="http://schemas.microsoft.com/office/powerpoint/2010/main" val="1861527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23F15-9000-281E-7C90-84A91392E36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37827AE-75DC-EB46-F7DE-C9545C64C5ED}"/>
              </a:ext>
            </a:extLst>
          </p:cNvPr>
          <p:cNvSpPr>
            <a:spLocks noGrp="1"/>
          </p:cNvSpPr>
          <p:nvPr>
            <p:ph type="dt" sz="half" idx="10"/>
          </p:nvPr>
        </p:nvSpPr>
        <p:spPr/>
        <p:txBody>
          <a:bodyPr/>
          <a:lstStyle/>
          <a:p>
            <a:fld id="{A8D9E25E-0982-45C8-9A75-EE9BCB65FDAD}" type="datetimeFigureOut">
              <a:rPr lang="en-IN" smtClean="0"/>
              <a:t>02-12-2024</a:t>
            </a:fld>
            <a:endParaRPr lang="en-IN"/>
          </a:p>
        </p:txBody>
      </p:sp>
      <p:sp>
        <p:nvSpPr>
          <p:cNvPr id="4" name="Footer Placeholder 3">
            <a:extLst>
              <a:ext uri="{FF2B5EF4-FFF2-40B4-BE49-F238E27FC236}">
                <a16:creationId xmlns:a16="http://schemas.microsoft.com/office/drawing/2014/main" id="{CEC10B2D-AED5-2480-7F34-4707E65EC9A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33071AD-7A26-3765-8C59-D69845329AE7}"/>
              </a:ext>
            </a:extLst>
          </p:cNvPr>
          <p:cNvSpPr>
            <a:spLocks noGrp="1"/>
          </p:cNvSpPr>
          <p:nvPr>
            <p:ph type="sldNum" sz="quarter" idx="12"/>
          </p:nvPr>
        </p:nvSpPr>
        <p:spPr/>
        <p:txBody>
          <a:bodyPr/>
          <a:lstStyle/>
          <a:p>
            <a:fld id="{C0DE63B4-695B-419E-90D0-510AE5F84AE7}" type="slidenum">
              <a:rPr lang="en-IN" smtClean="0"/>
              <a:t>‹#›</a:t>
            </a:fld>
            <a:endParaRPr lang="en-IN"/>
          </a:p>
        </p:txBody>
      </p:sp>
    </p:spTree>
    <p:extLst>
      <p:ext uri="{BB962C8B-B14F-4D97-AF65-F5344CB8AC3E}">
        <p14:creationId xmlns:p14="http://schemas.microsoft.com/office/powerpoint/2010/main" val="2589344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58376F-F89A-293A-3D7E-129865499FFD}"/>
              </a:ext>
            </a:extLst>
          </p:cNvPr>
          <p:cNvSpPr>
            <a:spLocks noGrp="1"/>
          </p:cNvSpPr>
          <p:nvPr>
            <p:ph type="dt" sz="half" idx="10"/>
          </p:nvPr>
        </p:nvSpPr>
        <p:spPr/>
        <p:txBody>
          <a:bodyPr/>
          <a:lstStyle/>
          <a:p>
            <a:fld id="{A8D9E25E-0982-45C8-9A75-EE9BCB65FDAD}" type="datetimeFigureOut">
              <a:rPr lang="en-IN" smtClean="0"/>
              <a:t>02-12-2024</a:t>
            </a:fld>
            <a:endParaRPr lang="en-IN"/>
          </a:p>
        </p:txBody>
      </p:sp>
      <p:sp>
        <p:nvSpPr>
          <p:cNvPr id="3" name="Footer Placeholder 2">
            <a:extLst>
              <a:ext uri="{FF2B5EF4-FFF2-40B4-BE49-F238E27FC236}">
                <a16:creationId xmlns:a16="http://schemas.microsoft.com/office/drawing/2014/main" id="{C5D76698-ED50-8392-E6B5-CEF31682098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639558F-F6AB-EF53-1A11-6A099DF51E85}"/>
              </a:ext>
            </a:extLst>
          </p:cNvPr>
          <p:cNvSpPr>
            <a:spLocks noGrp="1"/>
          </p:cNvSpPr>
          <p:nvPr>
            <p:ph type="sldNum" sz="quarter" idx="12"/>
          </p:nvPr>
        </p:nvSpPr>
        <p:spPr/>
        <p:txBody>
          <a:bodyPr/>
          <a:lstStyle/>
          <a:p>
            <a:fld id="{C0DE63B4-695B-419E-90D0-510AE5F84AE7}" type="slidenum">
              <a:rPr lang="en-IN" smtClean="0"/>
              <a:t>‹#›</a:t>
            </a:fld>
            <a:endParaRPr lang="en-IN"/>
          </a:p>
        </p:txBody>
      </p:sp>
    </p:spTree>
    <p:extLst>
      <p:ext uri="{BB962C8B-B14F-4D97-AF65-F5344CB8AC3E}">
        <p14:creationId xmlns:p14="http://schemas.microsoft.com/office/powerpoint/2010/main" val="1789551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B609F-7206-4FBC-C372-CB88B5BD5F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153CC54-43EA-6130-9C71-C4829A88CD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C67C1CC-A8AA-EE82-8124-0CD4352659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94797C-214D-4B90-BEB3-532CE3E2DDE3}"/>
              </a:ext>
            </a:extLst>
          </p:cNvPr>
          <p:cNvSpPr>
            <a:spLocks noGrp="1"/>
          </p:cNvSpPr>
          <p:nvPr>
            <p:ph type="dt" sz="half" idx="10"/>
          </p:nvPr>
        </p:nvSpPr>
        <p:spPr/>
        <p:txBody>
          <a:bodyPr/>
          <a:lstStyle/>
          <a:p>
            <a:fld id="{A8D9E25E-0982-45C8-9A75-EE9BCB65FDAD}" type="datetimeFigureOut">
              <a:rPr lang="en-IN" smtClean="0"/>
              <a:t>02-12-2024</a:t>
            </a:fld>
            <a:endParaRPr lang="en-IN"/>
          </a:p>
        </p:txBody>
      </p:sp>
      <p:sp>
        <p:nvSpPr>
          <p:cNvPr id="6" name="Footer Placeholder 5">
            <a:extLst>
              <a:ext uri="{FF2B5EF4-FFF2-40B4-BE49-F238E27FC236}">
                <a16:creationId xmlns:a16="http://schemas.microsoft.com/office/drawing/2014/main" id="{12FE6126-D661-AA97-71B2-777C7025D3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C67097-83F3-6A54-7E4E-CD280CD7D2A4}"/>
              </a:ext>
            </a:extLst>
          </p:cNvPr>
          <p:cNvSpPr>
            <a:spLocks noGrp="1"/>
          </p:cNvSpPr>
          <p:nvPr>
            <p:ph type="sldNum" sz="quarter" idx="12"/>
          </p:nvPr>
        </p:nvSpPr>
        <p:spPr/>
        <p:txBody>
          <a:bodyPr/>
          <a:lstStyle/>
          <a:p>
            <a:fld id="{C0DE63B4-695B-419E-90D0-510AE5F84AE7}" type="slidenum">
              <a:rPr lang="en-IN" smtClean="0"/>
              <a:t>‹#›</a:t>
            </a:fld>
            <a:endParaRPr lang="en-IN"/>
          </a:p>
        </p:txBody>
      </p:sp>
    </p:spTree>
    <p:extLst>
      <p:ext uri="{BB962C8B-B14F-4D97-AF65-F5344CB8AC3E}">
        <p14:creationId xmlns:p14="http://schemas.microsoft.com/office/powerpoint/2010/main" val="1448138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24505-6161-F820-BC75-A79F600C55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2142B80-EE4B-A60B-8730-C5E2A3EB72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F285BE4-54ED-6B1C-F938-6879D13C8B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D26F56-4C56-FA0D-C56F-E81E42302C4E}"/>
              </a:ext>
            </a:extLst>
          </p:cNvPr>
          <p:cNvSpPr>
            <a:spLocks noGrp="1"/>
          </p:cNvSpPr>
          <p:nvPr>
            <p:ph type="dt" sz="half" idx="10"/>
          </p:nvPr>
        </p:nvSpPr>
        <p:spPr/>
        <p:txBody>
          <a:bodyPr/>
          <a:lstStyle/>
          <a:p>
            <a:fld id="{A8D9E25E-0982-45C8-9A75-EE9BCB65FDAD}" type="datetimeFigureOut">
              <a:rPr lang="en-IN" smtClean="0"/>
              <a:t>02-12-2024</a:t>
            </a:fld>
            <a:endParaRPr lang="en-IN"/>
          </a:p>
        </p:txBody>
      </p:sp>
      <p:sp>
        <p:nvSpPr>
          <p:cNvPr id="6" name="Footer Placeholder 5">
            <a:extLst>
              <a:ext uri="{FF2B5EF4-FFF2-40B4-BE49-F238E27FC236}">
                <a16:creationId xmlns:a16="http://schemas.microsoft.com/office/drawing/2014/main" id="{3DE9F762-72A2-21CA-8D29-AC064D65AF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518AA3-2AA9-C7CB-88BB-9976D42B8583}"/>
              </a:ext>
            </a:extLst>
          </p:cNvPr>
          <p:cNvSpPr>
            <a:spLocks noGrp="1"/>
          </p:cNvSpPr>
          <p:nvPr>
            <p:ph type="sldNum" sz="quarter" idx="12"/>
          </p:nvPr>
        </p:nvSpPr>
        <p:spPr/>
        <p:txBody>
          <a:bodyPr/>
          <a:lstStyle/>
          <a:p>
            <a:fld id="{C0DE63B4-695B-419E-90D0-510AE5F84AE7}" type="slidenum">
              <a:rPr lang="en-IN" smtClean="0"/>
              <a:t>‹#›</a:t>
            </a:fld>
            <a:endParaRPr lang="en-IN"/>
          </a:p>
        </p:txBody>
      </p:sp>
    </p:spTree>
    <p:extLst>
      <p:ext uri="{BB962C8B-B14F-4D97-AF65-F5344CB8AC3E}">
        <p14:creationId xmlns:p14="http://schemas.microsoft.com/office/powerpoint/2010/main" val="1864732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CD7B6-A91A-6A4A-00FB-B071056CECE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AB8C911-551B-8171-76F2-A78A39E0B8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BE0430-F2CD-E02B-DDC8-AB1F3204A15E}"/>
              </a:ext>
            </a:extLst>
          </p:cNvPr>
          <p:cNvSpPr>
            <a:spLocks noGrp="1"/>
          </p:cNvSpPr>
          <p:nvPr>
            <p:ph type="dt" sz="half" idx="10"/>
          </p:nvPr>
        </p:nvSpPr>
        <p:spPr/>
        <p:txBody>
          <a:bodyPr/>
          <a:lstStyle/>
          <a:p>
            <a:fld id="{A8D9E25E-0982-45C8-9A75-EE9BCB65FDAD}" type="datetimeFigureOut">
              <a:rPr lang="en-IN" smtClean="0"/>
              <a:t>02-12-2024</a:t>
            </a:fld>
            <a:endParaRPr lang="en-IN"/>
          </a:p>
        </p:txBody>
      </p:sp>
      <p:sp>
        <p:nvSpPr>
          <p:cNvPr id="5" name="Footer Placeholder 4">
            <a:extLst>
              <a:ext uri="{FF2B5EF4-FFF2-40B4-BE49-F238E27FC236}">
                <a16:creationId xmlns:a16="http://schemas.microsoft.com/office/drawing/2014/main" id="{2C4BFCDC-3DBF-4E58-A353-6F9EEA1ED3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E64DBE-F965-FE4D-1DB8-DDE5E364F47E}"/>
              </a:ext>
            </a:extLst>
          </p:cNvPr>
          <p:cNvSpPr>
            <a:spLocks noGrp="1"/>
          </p:cNvSpPr>
          <p:nvPr>
            <p:ph type="sldNum" sz="quarter" idx="12"/>
          </p:nvPr>
        </p:nvSpPr>
        <p:spPr/>
        <p:txBody>
          <a:bodyPr/>
          <a:lstStyle/>
          <a:p>
            <a:fld id="{C0DE63B4-695B-419E-90D0-510AE5F84AE7}" type="slidenum">
              <a:rPr lang="en-IN" smtClean="0"/>
              <a:t>‹#›</a:t>
            </a:fld>
            <a:endParaRPr lang="en-IN"/>
          </a:p>
        </p:txBody>
      </p:sp>
    </p:spTree>
    <p:extLst>
      <p:ext uri="{BB962C8B-B14F-4D97-AF65-F5344CB8AC3E}">
        <p14:creationId xmlns:p14="http://schemas.microsoft.com/office/powerpoint/2010/main" val="2537055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142D7C-81EE-442B-83F2-B4419FB910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D91330-5F24-ABC9-20DE-59A3735353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54F0B7-439E-38A5-49A3-404D5ABE35F3}"/>
              </a:ext>
            </a:extLst>
          </p:cNvPr>
          <p:cNvSpPr>
            <a:spLocks noGrp="1"/>
          </p:cNvSpPr>
          <p:nvPr>
            <p:ph type="dt" sz="half" idx="10"/>
          </p:nvPr>
        </p:nvSpPr>
        <p:spPr/>
        <p:txBody>
          <a:bodyPr/>
          <a:lstStyle/>
          <a:p>
            <a:fld id="{A8D9E25E-0982-45C8-9A75-EE9BCB65FDAD}" type="datetimeFigureOut">
              <a:rPr lang="en-IN" smtClean="0"/>
              <a:t>02-12-2024</a:t>
            </a:fld>
            <a:endParaRPr lang="en-IN"/>
          </a:p>
        </p:txBody>
      </p:sp>
      <p:sp>
        <p:nvSpPr>
          <p:cNvPr id="5" name="Footer Placeholder 4">
            <a:extLst>
              <a:ext uri="{FF2B5EF4-FFF2-40B4-BE49-F238E27FC236}">
                <a16:creationId xmlns:a16="http://schemas.microsoft.com/office/drawing/2014/main" id="{6D889D72-58D6-8C27-F201-E54F62FC60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377404-C759-80B8-4687-127C4758DFC7}"/>
              </a:ext>
            </a:extLst>
          </p:cNvPr>
          <p:cNvSpPr>
            <a:spLocks noGrp="1"/>
          </p:cNvSpPr>
          <p:nvPr>
            <p:ph type="sldNum" sz="quarter" idx="12"/>
          </p:nvPr>
        </p:nvSpPr>
        <p:spPr/>
        <p:txBody>
          <a:bodyPr/>
          <a:lstStyle/>
          <a:p>
            <a:fld id="{C0DE63B4-695B-419E-90D0-510AE5F84AE7}" type="slidenum">
              <a:rPr lang="en-IN" smtClean="0"/>
              <a:t>‹#›</a:t>
            </a:fld>
            <a:endParaRPr lang="en-IN"/>
          </a:p>
        </p:txBody>
      </p:sp>
    </p:spTree>
    <p:extLst>
      <p:ext uri="{BB962C8B-B14F-4D97-AF65-F5344CB8AC3E}">
        <p14:creationId xmlns:p14="http://schemas.microsoft.com/office/powerpoint/2010/main" val="2315228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9DB692-D6D0-B119-BF3B-0544601062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6F61E29-D4AB-A1EF-CD34-1B42563B41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F05D6A-EFAC-CA37-FF0D-8211E9D9E4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D9E25E-0982-45C8-9A75-EE9BCB65FDAD}" type="datetimeFigureOut">
              <a:rPr lang="en-IN" smtClean="0"/>
              <a:t>02-12-2024</a:t>
            </a:fld>
            <a:endParaRPr lang="en-IN"/>
          </a:p>
        </p:txBody>
      </p:sp>
      <p:sp>
        <p:nvSpPr>
          <p:cNvPr id="5" name="Footer Placeholder 4">
            <a:extLst>
              <a:ext uri="{FF2B5EF4-FFF2-40B4-BE49-F238E27FC236}">
                <a16:creationId xmlns:a16="http://schemas.microsoft.com/office/drawing/2014/main" id="{CEF2DF9C-052E-6A6D-B5EE-DC0C74911B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4F33FA6-D15A-0C64-0863-E960799778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DE63B4-695B-419E-90D0-510AE5F84AE7}" type="slidenum">
              <a:rPr lang="en-IN" smtClean="0"/>
              <a:t>‹#›</a:t>
            </a:fld>
            <a:endParaRPr lang="en-IN"/>
          </a:p>
        </p:txBody>
      </p:sp>
    </p:spTree>
    <p:extLst>
      <p:ext uri="{BB962C8B-B14F-4D97-AF65-F5344CB8AC3E}">
        <p14:creationId xmlns:p14="http://schemas.microsoft.com/office/powerpoint/2010/main" val="19240079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41B1615-5C51-B48B-4BA2-B571E5EC5551}"/>
              </a:ext>
            </a:extLst>
          </p:cNvPr>
          <p:cNvSpPr>
            <a:spLocks noGrp="1"/>
          </p:cNvSpPr>
          <p:nvPr>
            <p:ph type="subTitle" idx="1"/>
          </p:nvPr>
        </p:nvSpPr>
        <p:spPr>
          <a:xfrm>
            <a:off x="761999" y="664029"/>
            <a:ext cx="10983687" cy="5388429"/>
          </a:xfrm>
        </p:spPr>
        <p:txBody>
          <a:bodyPr>
            <a:normAutofit fontScale="70000" lnSpcReduction="20000"/>
          </a:bodyPr>
          <a:lstStyle/>
          <a:p>
            <a:endParaRPr lang="en-IN" dirty="0">
              <a:latin typeface="Times New Roman" panose="02020603050405020304" pitchFamily="18" charset="0"/>
              <a:cs typeface="Times New Roman" panose="02020603050405020304" pitchFamily="18" charset="0"/>
            </a:endParaRPr>
          </a:p>
          <a:p>
            <a:endParaRPr lang="en-IN" sz="4800" dirty="0">
              <a:latin typeface="Times New Roman" panose="02020603050405020304" pitchFamily="18" charset="0"/>
              <a:cs typeface="Times New Roman" panose="02020603050405020304" pitchFamily="18" charset="0"/>
            </a:endParaRPr>
          </a:p>
          <a:p>
            <a:endParaRPr lang="en-IN" sz="4800" dirty="0">
              <a:latin typeface="Times New Roman" panose="02020603050405020304" pitchFamily="18" charset="0"/>
              <a:cs typeface="Times New Roman" panose="02020603050405020304" pitchFamily="18" charset="0"/>
            </a:endParaRPr>
          </a:p>
          <a:p>
            <a:endParaRPr lang="en-IN" sz="4800" dirty="0">
              <a:latin typeface="Times New Roman" panose="02020603050405020304" pitchFamily="18" charset="0"/>
              <a:cs typeface="Times New Roman" panose="02020603050405020304" pitchFamily="18" charset="0"/>
            </a:endParaRPr>
          </a:p>
          <a:p>
            <a:r>
              <a:rPr lang="en-IN" sz="4800" dirty="0">
                <a:latin typeface="Times New Roman" panose="02020603050405020304" pitchFamily="18" charset="0"/>
                <a:cs typeface="Times New Roman" panose="02020603050405020304" pitchFamily="18" charset="0"/>
              </a:rPr>
              <a:t>CIS 542 </a:t>
            </a:r>
          </a:p>
          <a:p>
            <a:r>
              <a:rPr lang="en-IN" sz="4800" dirty="0">
                <a:latin typeface="Times New Roman" panose="02020603050405020304" pitchFamily="18" charset="0"/>
                <a:cs typeface="Times New Roman" panose="02020603050405020304" pitchFamily="18" charset="0"/>
              </a:rPr>
              <a:t>Digital Forensic</a:t>
            </a:r>
          </a:p>
          <a:p>
            <a:r>
              <a:rPr lang="en-IN" sz="4800" dirty="0">
                <a:latin typeface="Times New Roman" panose="02020603050405020304" pitchFamily="18" charset="0"/>
                <a:cs typeface="Times New Roman" panose="02020603050405020304" pitchFamily="18" charset="0"/>
              </a:rPr>
              <a:t>Topic: </a:t>
            </a:r>
            <a:r>
              <a:rPr lang="en-IN" sz="4800" dirty="0" err="1">
                <a:latin typeface="Times New Roman" panose="02020603050405020304" pitchFamily="18" charset="0"/>
                <a:cs typeface="Times New Roman" panose="02020603050405020304" pitchFamily="18" charset="0"/>
              </a:rPr>
              <a:t>DeepFake</a:t>
            </a:r>
            <a:r>
              <a:rPr lang="en-IN" sz="4800" dirty="0">
                <a:latin typeface="Times New Roman" panose="02020603050405020304" pitchFamily="18" charset="0"/>
                <a:cs typeface="Times New Roman" panose="02020603050405020304" pitchFamily="18" charset="0"/>
              </a:rPr>
              <a:t> Detection</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Ajmal Abbas</a:t>
            </a:r>
          </a:p>
          <a:p>
            <a:r>
              <a:rPr lang="en-IN" b="1" dirty="0">
                <a:latin typeface="Times New Roman" panose="02020603050405020304" pitchFamily="18" charset="0"/>
                <a:cs typeface="Times New Roman" panose="02020603050405020304" pitchFamily="18" charset="0"/>
              </a:rPr>
              <a:t>                                                                                                                                  Vishnu Selvaraj</a:t>
            </a:r>
          </a:p>
          <a:p>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9935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34B6F-4FEF-F057-197C-E75DC9ADC8F1}"/>
              </a:ext>
            </a:extLst>
          </p:cNvPr>
          <p:cNvSpPr>
            <a:spLocks noGrp="1"/>
          </p:cNvSpPr>
          <p:nvPr>
            <p:ph type="title"/>
          </p:nvPr>
        </p:nvSpPr>
        <p:spPr/>
        <p:txBody>
          <a:bodyPr/>
          <a:lstStyle/>
          <a:p>
            <a:r>
              <a:rPr lang="en-US" b="1" dirty="0">
                <a:latin typeface="Arial Narrow" panose="020B0606020202030204" pitchFamily="34" charset="0"/>
              </a:rPr>
              <a:t>Abstract</a:t>
            </a:r>
            <a:endParaRPr lang="en-IN" dirty="0"/>
          </a:p>
        </p:txBody>
      </p:sp>
      <p:sp>
        <p:nvSpPr>
          <p:cNvPr id="3" name="Content Placeholder 2">
            <a:extLst>
              <a:ext uri="{FF2B5EF4-FFF2-40B4-BE49-F238E27FC236}">
                <a16:creationId xmlns:a16="http://schemas.microsoft.com/office/drawing/2014/main" id="{F383EC56-5FC4-E682-6C25-4F1497CCB2A5}"/>
              </a:ext>
            </a:extLst>
          </p:cNvPr>
          <p:cNvSpPr>
            <a:spLocks noGrp="1"/>
          </p:cNvSpPr>
          <p:nvPr>
            <p:ph idx="1"/>
          </p:nvPr>
        </p:nvSpPr>
        <p:spPr>
          <a:xfrm>
            <a:off x="838200" y="1382486"/>
            <a:ext cx="10515600" cy="4794477"/>
          </a:xfrm>
        </p:spPr>
        <p:txBody>
          <a:bodyPr/>
          <a:lstStyle/>
          <a:p>
            <a:pPr marL="0" marR="0" indent="0" algn="just">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The widespread use of deepfake videos, which edit or produce hyper-realistic digital content using sophisticated generative techniques, has sparked serious concerns in fields including cybersecurity, media integrity, and digital forensics. Deepfake detection's ramifications for fraud, deception, and privacy violations have made it a crucial area of research. In this work, we suggest a strong framework for identifying deepfake videos that makes use of deep learning methods. To efficiently assess spatial and temporal aspects in video input, the model combines Long Short-Term Memory (LSTM) networks, Convolutional Neural Networks (CNNs), and attention processes. We use actual and synthetic video datasets, it’s from Celeb-DF dataset, to train and assess the model. To normalize input data, we use preprocessing techniques. The model's effectiveness is demonstrated by its excellent accuracy in differentiating between authentic and fraudulent videos. </a:t>
            </a:r>
            <a:b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This study contributes to the larger subject of digital forensics by demonstrating how deep learning may be used to address deepfake issues and offer a scalable method for identifying tampered media.</a:t>
            </a:r>
            <a:b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b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432107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A6FC0-59CD-542A-78DC-0943D4956BD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32D4103-1A35-CF1B-016E-E7FDB97CB4E2}"/>
              </a:ext>
            </a:extLst>
          </p:cNvPr>
          <p:cNvSpPr>
            <a:spLocks noGrp="1"/>
          </p:cNvSpPr>
          <p:nvPr>
            <p:ph idx="1"/>
          </p:nvPr>
        </p:nvSpPr>
        <p:spPr>
          <a:xfrm>
            <a:off x="740229" y="1335768"/>
            <a:ext cx="10515600" cy="4618718"/>
          </a:xfrm>
        </p:spPr>
        <p:txBody>
          <a:bodyPr>
            <a:normAutofit fontScale="70000" lnSpcReduction="20000"/>
          </a:bodyPr>
          <a:lstStyle/>
          <a:p>
            <a:pPr marL="0" indent="0" algn="just">
              <a:lnSpc>
                <a:spcPct val="120000"/>
              </a:lnSpc>
              <a:buNone/>
            </a:pP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rapid advancement of generative techniques has led to the proliferation of deepfake videos, which can produce hyper-realistic digital content by manipulating audio-visual elements. While such technology has transformative applications in entertainment and education, its misuse has raised serious ethical and security concerns in domains like cybersecurity, media integrity, and digital forensics. Deepfakes pose a significant threat by enabling fraud, deception, and privacy violations, making their detection an urgent challenge. To address these risks, researchers are increasingly turning to deep learning methods that leverage the strengths of neural networks in pattern recognition and data analysis. In this study, we propose a robust deepfake detection framework that integrates Convolutional Neural Networks (CNNs), Long Short-Term Memory (LSTM) networks, and attention mechanisms. This hybrid model is designed to effectively analyze the spatial and temporal patterns in videos, enabling accurate identification of manipulated content. Using the Celeb-DF dataset, which includes both authentic and synthetic videos, we demonstrate how preprocessing and deep learning techniques can contribute to the critical task of deepfake detection in digital forensics.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6668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25C6A-7DC3-962D-6397-F45AFA5F095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Need of study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78DDBDF-0F9B-8C8D-AA7B-0B0742320F6D}"/>
              </a:ext>
            </a:extLst>
          </p:cNvPr>
          <p:cNvSpPr>
            <a:spLocks noGrp="1"/>
          </p:cNvSpPr>
          <p:nvPr>
            <p:ph idx="1"/>
          </p:nvPr>
        </p:nvSpPr>
        <p:spPr>
          <a:xfrm>
            <a:off x="838200" y="1404257"/>
            <a:ext cx="5486400" cy="4772706"/>
          </a:xfrm>
        </p:spPr>
        <p:txBody>
          <a:bodyPr>
            <a:normAutofit fontScale="70000" lnSpcReduction="20000"/>
          </a:bodyPr>
          <a:lstStyle/>
          <a:p>
            <a:pPr marL="0" indent="0" algn="just">
              <a:lnSpc>
                <a:spcPct val="120000"/>
              </a:lnSpc>
              <a:buNone/>
            </a:pPr>
            <a:r>
              <a:rPr lang="en-US" dirty="0">
                <a:latin typeface="Times New Roman" panose="02020603050405020304" pitchFamily="18" charset="0"/>
                <a:cs typeface="Times New Roman" panose="02020603050405020304" pitchFamily="18" charset="0"/>
              </a:rPr>
              <a:t>The validity of digital media is seriously threatened by the quick development of deepfake technology, which might be abused for identity theft, defamation, and disinformation operations. The increasing complexity of deepfake algorithms frequently outpaces current detection techniques, making the creation of reliable and scalable solutions necessary. This study uses deep learning approaches to assess temporal and spatial anomalies in video data, addressing the pressing demand for efficient detection systems. This study intends to improve media integrity, aid digital forensics, and lessen the security and social threats posed by deepfakes by offering a trustworthy framework for detecting manipulated information.</a:t>
            </a:r>
            <a:endParaRPr lang="en-IN" dirty="0">
              <a:latin typeface="Times New Roman" panose="02020603050405020304" pitchFamily="18" charset="0"/>
              <a:cs typeface="Times New Roman" panose="02020603050405020304" pitchFamily="18" charset="0"/>
            </a:endParaRPr>
          </a:p>
        </p:txBody>
      </p:sp>
      <p:pic>
        <p:nvPicPr>
          <p:cNvPr id="1026" name="Picture 2" descr="deepfake detection">
            <a:extLst>
              <a:ext uri="{FF2B5EF4-FFF2-40B4-BE49-F238E27FC236}">
                <a16:creationId xmlns:a16="http://schemas.microsoft.com/office/drawing/2014/main" id="{E05B219C-6816-EAD5-A6CD-132CC60D95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0541" y="930048"/>
            <a:ext cx="5246915" cy="5246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8064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57564-6C1A-86C8-3187-03C0155D4CF9}"/>
              </a:ext>
            </a:extLst>
          </p:cNvPr>
          <p:cNvSpPr>
            <a:spLocks noGrp="1"/>
          </p:cNvSpPr>
          <p:nvPr>
            <p:ph type="title"/>
          </p:nvPr>
        </p:nvSpPr>
        <p:spPr>
          <a:xfrm>
            <a:off x="838200" y="365125"/>
            <a:ext cx="10515600" cy="725545"/>
          </a:xfrm>
        </p:spPr>
        <p:txBody>
          <a:bodyPr/>
          <a:lstStyle/>
          <a:p>
            <a:r>
              <a:rPr lang="en-IN" b="1" dirty="0">
                <a:latin typeface="Times New Roman" panose="02020603050405020304" pitchFamily="18" charset="0"/>
                <a:cs typeface="Times New Roman" panose="02020603050405020304" pitchFamily="18" charset="0"/>
              </a:rPr>
              <a:t>Objectives</a:t>
            </a:r>
            <a:endParaRPr lang="en-IN" b="1" dirty="0"/>
          </a:p>
        </p:txBody>
      </p:sp>
      <p:sp>
        <p:nvSpPr>
          <p:cNvPr id="3" name="Content Placeholder 2">
            <a:extLst>
              <a:ext uri="{FF2B5EF4-FFF2-40B4-BE49-F238E27FC236}">
                <a16:creationId xmlns:a16="http://schemas.microsoft.com/office/drawing/2014/main" id="{64B1E375-3A9F-7D6F-5833-26F0A5B44672}"/>
              </a:ext>
            </a:extLst>
          </p:cNvPr>
          <p:cNvSpPr>
            <a:spLocks noGrp="1"/>
          </p:cNvSpPr>
          <p:nvPr>
            <p:ph idx="1"/>
          </p:nvPr>
        </p:nvSpPr>
        <p:spPr>
          <a:xfrm>
            <a:off x="838200" y="958467"/>
            <a:ext cx="10515600" cy="5218496"/>
          </a:xfrm>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To Create a Strong Detection Framework:</a:t>
            </a:r>
          </a:p>
          <a:p>
            <a:pPr marL="0" indent="0">
              <a:buNone/>
            </a:pPr>
            <a:r>
              <a:rPr lang="en-US" dirty="0">
                <a:latin typeface="Times New Roman" panose="02020603050405020304" pitchFamily="18" charset="0"/>
                <a:cs typeface="Times New Roman" panose="02020603050405020304" pitchFamily="18" charset="0"/>
              </a:rPr>
              <a:t>Create and put into use a deep learning-based framework that combines Long Short-Term Memory (LSTM) networks with Convolutional Neural Networks (CNN) to identify deepfakes by detecting temporal and spatial irregularities in video frames.</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To Integrate Attention Mechanisms: </a:t>
            </a:r>
          </a:p>
          <a:p>
            <a:pPr marL="0" indent="0">
              <a:buNone/>
            </a:pPr>
            <a:r>
              <a:rPr lang="en-US" dirty="0">
                <a:latin typeface="Times New Roman" panose="02020603050405020304" pitchFamily="18" charset="0"/>
                <a:cs typeface="Times New Roman" panose="02020603050405020304" pitchFamily="18" charset="0"/>
              </a:rPr>
              <a:t>To increase feature extraction and the model's capacity to concentrate on crucial areas of video frames that can point to deepfake changes, use attention mechanisms.</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To Data Processing and Augmentation: </a:t>
            </a:r>
          </a:p>
          <a:p>
            <a:pPr marL="0" indent="0">
              <a:buNone/>
            </a:pPr>
            <a:r>
              <a:rPr lang="en-US" dirty="0">
                <a:latin typeface="Times New Roman" panose="02020603050405020304" pitchFamily="18" charset="0"/>
                <a:cs typeface="Times New Roman" panose="02020603050405020304" pitchFamily="18" charset="0"/>
              </a:rPr>
              <a:t>Create effective preprocessing approaches to extract reliable video frame sequences, and employ augmentation strategies to strengthen the model's resistance to different perturbations.</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To performance Evaluation and analysis:</a:t>
            </a:r>
          </a:p>
          <a:p>
            <a:pPr marL="0" indent="0">
              <a:buNone/>
            </a:pPr>
            <a:r>
              <a:rPr lang="en-US" dirty="0">
                <a:latin typeface="Times New Roman" panose="02020603050405020304" pitchFamily="18" charset="0"/>
                <a:cs typeface="Times New Roman" panose="02020603050405020304" pitchFamily="18" charset="0"/>
              </a:rPr>
              <a:t>Evaluate the model's performance by comparing it to current state-of-the-art techniques using common measures like accuracy, precision, recall, and F1-score.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8576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6DDF70-9045-5288-BFDF-44F259D0BF88}"/>
              </a:ext>
            </a:extLst>
          </p:cNvPr>
          <p:cNvSpPr>
            <a:spLocks noGrp="1"/>
          </p:cNvSpPr>
          <p:nvPr>
            <p:ph idx="1"/>
          </p:nvPr>
        </p:nvSpPr>
        <p:spPr>
          <a:xfrm>
            <a:off x="838200" y="987425"/>
            <a:ext cx="10515600" cy="3040290"/>
          </a:xfrm>
        </p:spPr>
        <p:txBody>
          <a:bodyPr>
            <a:normAutofit/>
          </a:bodyPr>
          <a:lstStyle/>
          <a:p>
            <a:r>
              <a:rPr lang="en-US" sz="2000" dirty="0">
                <a:latin typeface="Times New Roman" panose="02020603050405020304" pitchFamily="18" charset="0"/>
                <a:cs typeface="Times New Roman" panose="02020603050405020304" pitchFamily="18" charset="0"/>
              </a:rPr>
              <a:t>To Assist Law Enforcement and Digital Forensics:</a:t>
            </a:r>
          </a:p>
          <a:p>
            <a:pPr marL="0" indent="0">
              <a:buNone/>
            </a:pPr>
            <a:r>
              <a:rPr lang="en-US" sz="2000" dirty="0">
                <a:latin typeface="Times New Roman" panose="02020603050405020304" pitchFamily="18" charset="0"/>
                <a:cs typeface="Times New Roman" panose="02020603050405020304" pitchFamily="18" charset="0"/>
              </a:rPr>
              <a:t> Professionals in Recognizing Deepfake Content and Maintaining Media Authenticity by Offering a Scalable Solution.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7109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56010A-0C5F-8DB3-2286-8A167323086F}"/>
              </a:ext>
            </a:extLst>
          </p:cNvPr>
          <p:cNvSpPr>
            <a:spLocks noGrp="1"/>
          </p:cNvSpPr>
          <p:nvPr>
            <p:ph idx="1"/>
          </p:nvPr>
        </p:nvSpPr>
        <p:spPr>
          <a:xfrm>
            <a:off x="587828" y="990146"/>
            <a:ext cx="10515600" cy="5502728"/>
          </a:xfrm>
        </p:spPr>
        <p:txBody>
          <a:bodyPr>
            <a:normAutofit fontScale="62500" lnSpcReduction="20000"/>
          </a:bodyPr>
          <a:lstStyle/>
          <a:p>
            <a:pPr marL="0" indent="0">
              <a:lnSpc>
                <a:spcPct val="120000"/>
              </a:lnSpc>
              <a:buNone/>
            </a:pPr>
            <a:r>
              <a:rPr lang="en-US" dirty="0">
                <a:latin typeface="Times New Roman" panose="02020603050405020304" pitchFamily="18" charset="0"/>
                <a:cs typeface="Times New Roman" panose="02020603050405020304" pitchFamily="18" charset="0"/>
              </a:rPr>
              <a:t>The research paper titled "</a:t>
            </a:r>
            <a:r>
              <a:rPr lang="en-US" b="1" dirty="0">
                <a:latin typeface="Times New Roman" panose="02020603050405020304" pitchFamily="18" charset="0"/>
                <a:cs typeface="Times New Roman" panose="02020603050405020304" pitchFamily="18" charset="0"/>
              </a:rPr>
              <a:t>Deepfake Detection Using Machine Learning Algorithms</a:t>
            </a:r>
            <a:r>
              <a:rPr lang="en-US" dirty="0">
                <a:latin typeface="Times New Roman" panose="02020603050405020304" pitchFamily="18" charset="0"/>
                <a:cs typeface="Times New Roman" panose="02020603050405020304" pitchFamily="18" charset="0"/>
              </a:rPr>
              <a:t>" investigates the effectiveness of traditional machine learning (ML) techniques in detecting deepfakes. Here's a breakdown of the key points:</a:t>
            </a:r>
          </a:p>
          <a:p>
            <a:pPr marL="0" indent="0">
              <a:lnSpc>
                <a:spcPct val="120000"/>
              </a:lnSpc>
              <a:buNone/>
            </a:pPr>
            <a:r>
              <a:rPr lang="en-US" b="1" dirty="0">
                <a:latin typeface="Times New Roman" panose="02020603050405020304" pitchFamily="18" charset="0"/>
                <a:cs typeface="Times New Roman" panose="02020603050405020304" pitchFamily="18" charset="0"/>
              </a:rPr>
              <a:t>Methodology:</a:t>
            </a:r>
            <a:endParaRPr lang="en-US" dirty="0">
              <a:latin typeface="Times New Roman" panose="02020603050405020304" pitchFamily="18" charset="0"/>
              <a:cs typeface="Times New Roman" panose="02020603050405020304" pitchFamily="18" charset="0"/>
            </a:endParaRPr>
          </a:p>
          <a:p>
            <a:pPr>
              <a:lnSpc>
                <a:spcPct val="12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authors propose a system using traditional machine learning for deepfake detection.</a:t>
            </a:r>
          </a:p>
          <a:p>
            <a:pPr>
              <a:lnSpc>
                <a:spcPct val="12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They combine various features like HOG, </a:t>
            </a:r>
            <a:r>
              <a:rPr lang="en-US" dirty="0" err="1">
                <a:latin typeface="Times New Roman" panose="02020603050405020304" pitchFamily="18" charset="0"/>
                <a:cs typeface="Times New Roman" panose="02020603050405020304" pitchFamily="18" charset="0"/>
              </a:rPr>
              <a:t>Haralic</a:t>
            </a:r>
            <a:r>
              <a:rPr lang="en-US" dirty="0">
                <a:latin typeface="Times New Roman" panose="02020603050405020304" pitchFamily="18" charset="0"/>
                <a:cs typeface="Times New Roman" panose="02020603050405020304" pitchFamily="18" charset="0"/>
              </a:rPr>
              <a:t>, Hu Moments, and Color Histogram features to create a unique feature set.</a:t>
            </a:r>
          </a:p>
          <a:p>
            <a:pPr>
              <a:lnSpc>
                <a:spcPct val="12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two-stage approach is used to split the task: object detection (identifying all possible objects) and object recognition (identifying relevant objects).</a:t>
            </a:r>
          </a:p>
          <a:p>
            <a:pPr>
              <a:lnSpc>
                <a:spcPct val="12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method offers advantages like better interpretability, reduced training time, and comparable or superior performance to deep learning approaches.</a:t>
            </a:r>
          </a:p>
          <a:p>
            <a:pPr marL="0" indent="0">
              <a:lnSpc>
                <a:spcPct val="120000"/>
              </a:lnSpc>
              <a:buNone/>
            </a:pPr>
            <a:r>
              <a:rPr lang="en-US" b="1" dirty="0">
                <a:latin typeface="Times New Roman" panose="02020603050405020304" pitchFamily="18" charset="0"/>
                <a:cs typeface="Times New Roman" panose="02020603050405020304" pitchFamily="18" charset="0"/>
              </a:rPr>
              <a:t>Results:</a:t>
            </a:r>
            <a:endParaRPr lang="en-US" dirty="0">
              <a:latin typeface="Times New Roman" panose="02020603050405020304" pitchFamily="18" charset="0"/>
              <a:cs typeface="Times New Roman" panose="02020603050405020304" pitchFamily="18" charset="0"/>
            </a:endParaRPr>
          </a:p>
          <a:p>
            <a:pPr marL="0" indent="0">
              <a:lnSpc>
                <a:spcPct val="120000"/>
              </a:lnSpc>
              <a:buNone/>
            </a:pPr>
            <a:r>
              <a:rPr lang="en-US" dirty="0">
                <a:latin typeface="Times New Roman" panose="02020603050405020304" pitchFamily="18" charset="0"/>
                <a:cs typeface="Times New Roman" panose="02020603050405020304" pitchFamily="18" charset="0"/>
              </a:rPr>
              <a:t>The reported accuracy achieved on several deepfake datasets is: </a:t>
            </a:r>
          </a:p>
          <a:p>
            <a:pPr marL="742950" lvl="1" indent="-285750">
              <a:lnSpc>
                <a:spcPct val="12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99.84% on </a:t>
            </a:r>
            <a:r>
              <a:rPr lang="en-US" dirty="0" err="1">
                <a:latin typeface="Times New Roman" panose="02020603050405020304" pitchFamily="18" charset="0"/>
                <a:cs typeface="Times New Roman" panose="02020603050405020304" pitchFamily="18" charset="0"/>
              </a:rPr>
              <a:t>FaceForensics</a:t>
            </a:r>
            <a:r>
              <a:rPr lang="en-US" dirty="0">
                <a:latin typeface="Times New Roman" panose="02020603050405020304" pitchFamily="18" charset="0"/>
                <a:cs typeface="Times New Roman" panose="02020603050405020304" pitchFamily="18" charset="0"/>
              </a:rPr>
              <a:t>++</a:t>
            </a:r>
          </a:p>
          <a:p>
            <a:pPr marL="742950" lvl="1" indent="-285750">
              <a:lnSpc>
                <a:spcPct val="12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99.38% on DFDC</a:t>
            </a:r>
          </a:p>
          <a:p>
            <a:pPr marL="742950" lvl="1" indent="-285750">
              <a:lnSpc>
                <a:spcPct val="12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99.66% on VDFD</a:t>
            </a:r>
          </a:p>
        </p:txBody>
      </p:sp>
      <p:sp>
        <p:nvSpPr>
          <p:cNvPr id="2" name="Title 1">
            <a:extLst>
              <a:ext uri="{FF2B5EF4-FFF2-40B4-BE49-F238E27FC236}">
                <a16:creationId xmlns:a16="http://schemas.microsoft.com/office/drawing/2014/main" id="{03E8D345-A927-5878-5DC5-96E484F0296A}"/>
              </a:ext>
            </a:extLst>
          </p:cNvPr>
          <p:cNvSpPr>
            <a:spLocks noGrp="1"/>
          </p:cNvSpPr>
          <p:nvPr>
            <p:ph type="title"/>
          </p:nvPr>
        </p:nvSpPr>
        <p:spPr>
          <a:xfrm>
            <a:off x="838200" y="365126"/>
            <a:ext cx="3645665" cy="527503"/>
          </a:xfrm>
        </p:spPr>
        <p:txBody>
          <a:bodyPr>
            <a:normAutofit fontScale="90000"/>
          </a:bodyPr>
          <a:lstStyle/>
          <a:p>
            <a:r>
              <a:rPr lang="en-IN" b="1" dirty="0"/>
              <a:t>Base Paper:</a:t>
            </a:r>
          </a:p>
        </p:txBody>
      </p:sp>
    </p:spTree>
    <p:extLst>
      <p:ext uri="{BB962C8B-B14F-4D97-AF65-F5344CB8AC3E}">
        <p14:creationId xmlns:p14="http://schemas.microsoft.com/office/powerpoint/2010/main" val="3029001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593257-36B3-F661-2C7C-2A3B7D346867}"/>
              </a:ext>
            </a:extLst>
          </p:cNvPr>
          <p:cNvSpPr>
            <a:spLocks noGrp="1"/>
          </p:cNvSpPr>
          <p:nvPr>
            <p:ph idx="1"/>
          </p:nvPr>
        </p:nvSpPr>
        <p:spPr>
          <a:xfrm>
            <a:off x="838200" y="712920"/>
            <a:ext cx="10515600" cy="5181103"/>
          </a:xfrm>
        </p:spPr>
        <p:txBody>
          <a:bodyPr>
            <a:normAutofit/>
          </a:bodyPr>
          <a:lstStyle/>
          <a:p>
            <a:pPr marL="0" indent="0">
              <a:lnSpc>
                <a:spcPct val="100000"/>
              </a:lnSpc>
              <a:buNone/>
            </a:pPr>
            <a:r>
              <a:rPr lang="en-US" sz="2000" b="1" dirty="0">
                <a:latin typeface="Times New Roman" panose="02020603050405020304" pitchFamily="18" charset="0"/>
                <a:cs typeface="Times New Roman" panose="02020603050405020304" pitchFamily="18" charset="0"/>
              </a:rPr>
              <a:t>Limitations:</a:t>
            </a:r>
            <a:endParaRPr lang="en-US" sz="2000" dirty="0">
              <a:latin typeface="Times New Roman" panose="02020603050405020304" pitchFamily="18" charset="0"/>
              <a:cs typeface="Times New Roman" panose="02020603050405020304" pitchFamily="18" charset="0"/>
            </a:endParaRPr>
          </a:p>
          <a:p>
            <a:pPr>
              <a:lnSpc>
                <a:spcPct val="1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paper doesn't mention the specific machine learning algorithms used.</a:t>
            </a:r>
          </a:p>
          <a:p>
            <a:pPr>
              <a:lnSpc>
                <a:spcPct val="1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doesn't elaborate on the computational resources required for training the ML model compared to deep learning methods.</a:t>
            </a:r>
          </a:p>
          <a:p>
            <a:pPr>
              <a:lnSpc>
                <a:spcPct val="100000"/>
              </a:lnSpc>
            </a:pPr>
            <a:r>
              <a:rPr lang="en-US" sz="2000" b="1" dirty="0">
                <a:latin typeface="Times New Roman" panose="02020603050405020304" pitchFamily="18" charset="0"/>
                <a:cs typeface="Times New Roman" panose="02020603050405020304" pitchFamily="18" charset="0"/>
              </a:rPr>
              <a:t>Overall, the paper suggests that traditional machine learning can be a viable approach for deepfake detection, offering good accuracy and interpretability.</a:t>
            </a:r>
            <a:endParaRPr lang="en-US" sz="2000" dirty="0">
              <a:latin typeface="Times New Roman" panose="02020603050405020304" pitchFamily="18" charset="0"/>
              <a:cs typeface="Times New Roman" panose="02020603050405020304" pitchFamily="18" charset="0"/>
            </a:endParaRPr>
          </a:p>
          <a:p>
            <a:pPr marL="0" indent="0">
              <a:lnSpc>
                <a:spcPct val="100000"/>
              </a:lnSpc>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8423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B7023-2501-3C24-31C8-A36827F7DFF0}"/>
              </a:ext>
            </a:extLst>
          </p:cNvPr>
          <p:cNvSpPr>
            <a:spLocks noGrp="1"/>
          </p:cNvSpPr>
          <p:nvPr>
            <p:ph type="title"/>
          </p:nvPr>
        </p:nvSpPr>
        <p:spPr>
          <a:xfrm>
            <a:off x="650912" y="2407224"/>
            <a:ext cx="3293125" cy="626393"/>
          </a:xfrm>
        </p:spPr>
        <p:txBody>
          <a:bodyPr>
            <a:normAutofit fontScale="90000"/>
          </a:bodyPr>
          <a:lstStyle/>
          <a:p>
            <a:r>
              <a:rPr lang="en-US" b="1" dirty="0">
                <a:latin typeface="Times New Roman" panose="02020603050405020304" pitchFamily="18" charset="0"/>
                <a:cs typeface="Times New Roman" panose="02020603050405020304" pitchFamily="18" charset="0"/>
              </a:rPr>
              <a:t>Proposed Methodology</a:t>
            </a:r>
            <a:endParaRPr lang="en-IN" dirty="0"/>
          </a:p>
        </p:txBody>
      </p:sp>
      <p:sp>
        <p:nvSpPr>
          <p:cNvPr id="4" name="Rectangle: Rounded Corners 3">
            <a:extLst>
              <a:ext uri="{FF2B5EF4-FFF2-40B4-BE49-F238E27FC236}">
                <a16:creationId xmlns:a16="http://schemas.microsoft.com/office/drawing/2014/main" id="{F48A5F74-BBE0-71AC-A3C9-56EB8DBDA90C}"/>
              </a:ext>
            </a:extLst>
          </p:cNvPr>
          <p:cNvSpPr/>
          <p:nvPr/>
        </p:nvSpPr>
        <p:spPr>
          <a:xfrm>
            <a:off x="4641857" y="714271"/>
            <a:ext cx="2192357" cy="4126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88B01CD2-9AA0-EB5D-1E4A-031E72DD1CEB}"/>
              </a:ext>
            </a:extLst>
          </p:cNvPr>
          <p:cNvSpPr/>
          <p:nvPr/>
        </p:nvSpPr>
        <p:spPr>
          <a:xfrm>
            <a:off x="4708651" y="1914805"/>
            <a:ext cx="1949825" cy="4924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Arrow: Right 8">
            <a:extLst>
              <a:ext uri="{FF2B5EF4-FFF2-40B4-BE49-F238E27FC236}">
                <a16:creationId xmlns:a16="http://schemas.microsoft.com/office/drawing/2014/main" id="{4A787F7E-BFA8-B8A1-2332-51CD8E7CD532}"/>
              </a:ext>
            </a:extLst>
          </p:cNvPr>
          <p:cNvSpPr/>
          <p:nvPr/>
        </p:nvSpPr>
        <p:spPr>
          <a:xfrm rot="5400000">
            <a:off x="5503788" y="3967792"/>
            <a:ext cx="536880" cy="4725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6491A26C-BFDC-A51D-D4D0-B78C56F84AE1}"/>
              </a:ext>
            </a:extLst>
          </p:cNvPr>
          <p:cNvSpPr/>
          <p:nvPr/>
        </p:nvSpPr>
        <p:spPr>
          <a:xfrm>
            <a:off x="4868394" y="3267174"/>
            <a:ext cx="2042839" cy="4409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D3808634-8A54-59B9-36BA-BF4F3933CC73}"/>
              </a:ext>
            </a:extLst>
          </p:cNvPr>
          <p:cNvSpPr/>
          <p:nvPr/>
        </p:nvSpPr>
        <p:spPr>
          <a:xfrm>
            <a:off x="4868395" y="4510948"/>
            <a:ext cx="1786694" cy="536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Right 11">
            <a:extLst>
              <a:ext uri="{FF2B5EF4-FFF2-40B4-BE49-F238E27FC236}">
                <a16:creationId xmlns:a16="http://schemas.microsoft.com/office/drawing/2014/main" id="{7F7B4CD3-F970-0C98-61E7-3D7C018D9792}"/>
              </a:ext>
            </a:extLst>
          </p:cNvPr>
          <p:cNvSpPr/>
          <p:nvPr/>
        </p:nvSpPr>
        <p:spPr>
          <a:xfrm rot="5400000">
            <a:off x="5513349" y="5238410"/>
            <a:ext cx="626391" cy="5389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Rectangle 12">
            <a:extLst>
              <a:ext uri="{FF2B5EF4-FFF2-40B4-BE49-F238E27FC236}">
                <a16:creationId xmlns:a16="http://schemas.microsoft.com/office/drawing/2014/main" id="{E10DA406-1BCA-1574-EDF3-7FA94237FF6E}"/>
              </a:ext>
            </a:extLst>
          </p:cNvPr>
          <p:cNvSpPr/>
          <p:nvPr/>
        </p:nvSpPr>
        <p:spPr>
          <a:xfrm>
            <a:off x="5034708" y="5835712"/>
            <a:ext cx="1731485" cy="6068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367AA453-A098-53E0-8CC6-72828B5A8EFD}"/>
              </a:ext>
            </a:extLst>
          </p:cNvPr>
          <p:cNvSpPr txBox="1"/>
          <p:nvPr/>
        </p:nvSpPr>
        <p:spPr>
          <a:xfrm>
            <a:off x="5075103" y="736789"/>
            <a:ext cx="1691090" cy="369332"/>
          </a:xfrm>
          <a:prstGeom prst="rect">
            <a:avLst/>
          </a:prstGeom>
          <a:noFill/>
        </p:spPr>
        <p:txBody>
          <a:bodyPr wrap="square" rtlCol="0">
            <a:spAutoFit/>
          </a:bodyPr>
          <a:lstStyle/>
          <a:p>
            <a:r>
              <a:rPr lang="en-IN" dirty="0"/>
              <a:t>User Video</a:t>
            </a:r>
          </a:p>
        </p:txBody>
      </p:sp>
      <p:sp>
        <p:nvSpPr>
          <p:cNvPr id="18" name="TextBox 17">
            <a:extLst>
              <a:ext uri="{FF2B5EF4-FFF2-40B4-BE49-F238E27FC236}">
                <a16:creationId xmlns:a16="http://schemas.microsoft.com/office/drawing/2014/main" id="{B7D13D0F-E83F-AD12-4F9B-06DF9662069E}"/>
              </a:ext>
            </a:extLst>
          </p:cNvPr>
          <p:cNvSpPr txBox="1"/>
          <p:nvPr/>
        </p:nvSpPr>
        <p:spPr>
          <a:xfrm>
            <a:off x="5018103" y="1975944"/>
            <a:ext cx="1487277" cy="369332"/>
          </a:xfrm>
          <a:prstGeom prst="rect">
            <a:avLst/>
          </a:prstGeom>
          <a:noFill/>
        </p:spPr>
        <p:txBody>
          <a:bodyPr wrap="square" rtlCol="0">
            <a:spAutoFit/>
          </a:bodyPr>
          <a:lstStyle/>
          <a:p>
            <a:r>
              <a:rPr lang="en-IN" dirty="0"/>
              <a:t>Preprocessing </a:t>
            </a:r>
          </a:p>
        </p:txBody>
      </p:sp>
      <p:sp>
        <p:nvSpPr>
          <p:cNvPr id="19" name="TextBox 18">
            <a:extLst>
              <a:ext uri="{FF2B5EF4-FFF2-40B4-BE49-F238E27FC236}">
                <a16:creationId xmlns:a16="http://schemas.microsoft.com/office/drawing/2014/main" id="{3BC90E29-648E-F52F-78D6-396B90E77FAE}"/>
              </a:ext>
            </a:extLst>
          </p:cNvPr>
          <p:cNvSpPr txBox="1"/>
          <p:nvPr/>
        </p:nvSpPr>
        <p:spPr>
          <a:xfrm>
            <a:off x="4862040" y="3318381"/>
            <a:ext cx="2117216" cy="369332"/>
          </a:xfrm>
          <a:prstGeom prst="rect">
            <a:avLst/>
          </a:prstGeom>
          <a:noFill/>
        </p:spPr>
        <p:txBody>
          <a:bodyPr wrap="square" rtlCol="0">
            <a:spAutoFit/>
          </a:bodyPr>
          <a:lstStyle/>
          <a:p>
            <a:r>
              <a:rPr lang="en-IN" dirty="0"/>
              <a:t>Training and Testing</a:t>
            </a:r>
          </a:p>
        </p:txBody>
      </p:sp>
      <p:sp>
        <p:nvSpPr>
          <p:cNvPr id="20" name="TextBox 19">
            <a:extLst>
              <a:ext uri="{FF2B5EF4-FFF2-40B4-BE49-F238E27FC236}">
                <a16:creationId xmlns:a16="http://schemas.microsoft.com/office/drawing/2014/main" id="{2B46DFD1-4A35-F4A5-1F2A-AA1FD0E7C387}"/>
              </a:ext>
            </a:extLst>
          </p:cNvPr>
          <p:cNvSpPr txBox="1"/>
          <p:nvPr/>
        </p:nvSpPr>
        <p:spPr>
          <a:xfrm>
            <a:off x="5192602" y="4629698"/>
            <a:ext cx="1718631" cy="369332"/>
          </a:xfrm>
          <a:prstGeom prst="rect">
            <a:avLst/>
          </a:prstGeom>
          <a:noFill/>
        </p:spPr>
        <p:txBody>
          <a:bodyPr wrap="square" rtlCol="0">
            <a:spAutoFit/>
          </a:bodyPr>
          <a:lstStyle/>
          <a:p>
            <a:r>
              <a:rPr lang="en-IN" dirty="0"/>
              <a:t>Prediction</a:t>
            </a:r>
          </a:p>
        </p:txBody>
      </p:sp>
      <p:sp>
        <p:nvSpPr>
          <p:cNvPr id="21" name="TextBox 20">
            <a:extLst>
              <a:ext uri="{FF2B5EF4-FFF2-40B4-BE49-F238E27FC236}">
                <a16:creationId xmlns:a16="http://schemas.microsoft.com/office/drawing/2014/main" id="{AC41EE38-FF06-6C48-F437-DFF09214AF1F}"/>
              </a:ext>
            </a:extLst>
          </p:cNvPr>
          <p:cNvSpPr txBox="1"/>
          <p:nvPr/>
        </p:nvSpPr>
        <p:spPr>
          <a:xfrm>
            <a:off x="5227491" y="5981317"/>
            <a:ext cx="1457897" cy="369332"/>
          </a:xfrm>
          <a:prstGeom prst="rect">
            <a:avLst/>
          </a:prstGeom>
          <a:noFill/>
        </p:spPr>
        <p:txBody>
          <a:bodyPr wrap="square" rtlCol="0">
            <a:spAutoFit/>
          </a:bodyPr>
          <a:lstStyle/>
          <a:p>
            <a:r>
              <a:rPr lang="en-IN" dirty="0"/>
              <a:t>Real or Fake</a:t>
            </a:r>
          </a:p>
        </p:txBody>
      </p:sp>
      <p:sp>
        <p:nvSpPr>
          <p:cNvPr id="22" name="Arrow: Right 21">
            <a:extLst>
              <a:ext uri="{FF2B5EF4-FFF2-40B4-BE49-F238E27FC236}">
                <a16:creationId xmlns:a16="http://schemas.microsoft.com/office/drawing/2014/main" id="{60D9F9ED-F560-AE61-2D62-EF9D1DA3FE67}"/>
              </a:ext>
            </a:extLst>
          </p:cNvPr>
          <p:cNvSpPr/>
          <p:nvPr/>
        </p:nvSpPr>
        <p:spPr>
          <a:xfrm rot="5400000">
            <a:off x="5402452" y="2623192"/>
            <a:ext cx="576555" cy="4725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3" name="Arrow: Right 22">
            <a:extLst>
              <a:ext uri="{FF2B5EF4-FFF2-40B4-BE49-F238E27FC236}">
                <a16:creationId xmlns:a16="http://schemas.microsoft.com/office/drawing/2014/main" id="{4A205663-39AC-0C5E-4A64-AD91D1A6A87B}"/>
              </a:ext>
            </a:extLst>
          </p:cNvPr>
          <p:cNvSpPr/>
          <p:nvPr/>
        </p:nvSpPr>
        <p:spPr>
          <a:xfrm rot="5400000">
            <a:off x="5375900" y="1346619"/>
            <a:ext cx="576555" cy="4725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357318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0AFE1E-1361-8955-AD6F-B59AF781034D}"/>
              </a:ext>
            </a:extLst>
          </p:cNvPr>
          <p:cNvSpPr>
            <a:spLocks noGrp="1"/>
          </p:cNvSpPr>
          <p:nvPr>
            <p:ph idx="1"/>
          </p:nvPr>
        </p:nvSpPr>
        <p:spPr>
          <a:xfrm>
            <a:off x="772098" y="1253331"/>
            <a:ext cx="4879554" cy="4351338"/>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User Video:</a:t>
            </a:r>
          </a:p>
          <a:p>
            <a:pPr marL="0" indent="0" algn="just">
              <a:buNone/>
            </a:pPr>
            <a:r>
              <a:rPr lang="en-US" dirty="0">
                <a:latin typeface="Times New Roman" panose="02020603050405020304" pitchFamily="18" charset="0"/>
                <a:cs typeface="Times New Roman" panose="02020603050405020304" pitchFamily="18" charset="0"/>
              </a:rPr>
              <a:t> A user-provided video, which may or may not be authentic, serves as the system's input.</a:t>
            </a:r>
          </a:p>
        </p:txBody>
      </p:sp>
      <p:pic>
        <p:nvPicPr>
          <p:cNvPr id="5123" name="Picture 3" descr="User Video as input for deepfake detection program">
            <a:extLst>
              <a:ext uri="{FF2B5EF4-FFF2-40B4-BE49-F238E27FC236}">
                <a16:creationId xmlns:a16="http://schemas.microsoft.com/office/drawing/2014/main" id="{B68DE2D3-D852-5B35-66A9-551B6C209C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3582" y="760163"/>
            <a:ext cx="4985133" cy="4985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9740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639D41-1AEA-811B-5132-E6BD97867E1D}"/>
              </a:ext>
            </a:extLst>
          </p:cNvPr>
          <p:cNvSpPr>
            <a:spLocks noGrp="1"/>
          </p:cNvSpPr>
          <p:nvPr>
            <p:ph idx="1"/>
          </p:nvPr>
        </p:nvSpPr>
        <p:spPr>
          <a:xfrm>
            <a:off x="904301" y="955292"/>
            <a:ext cx="5849039" cy="5037884"/>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Preprocessing:</a:t>
            </a:r>
          </a:p>
          <a:p>
            <a:pPr marL="0" indent="0" algn="just">
              <a:buNone/>
            </a:pPr>
            <a:r>
              <a:rPr lang="en-US" dirty="0">
                <a:latin typeface="Times New Roman" panose="02020603050405020304" pitchFamily="18" charset="0"/>
                <a:cs typeface="Times New Roman" panose="02020603050405020304" pitchFamily="18" charset="0"/>
              </a:rPr>
              <a:t> In this stage, frames from the incoming video are extracted and resized to a standard size (such as 224 by 224 pixels). Padding strategies are used to guarantee consistent frame sequences if there are not enough frames. Normalization and getting the data ready for additional analysis are also included in preprocessing.</a:t>
            </a:r>
          </a:p>
          <a:p>
            <a:pPr marL="0" indent="0" algn="just">
              <a:buNone/>
            </a:pPr>
            <a:endParaRPr lang="en-IN" dirty="0">
              <a:latin typeface="Times New Roman" panose="02020603050405020304" pitchFamily="18" charset="0"/>
              <a:cs typeface="Times New Roman" panose="02020603050405020304" pitchFamily="18" charset="0"/>
            </a:endParaRPr>
          </a:p>
        </p:txBody>
      </p:sp>
      <p:pic>
        <p:nvPicPr>
          <p:cNvPr id="7170" name="Picture 2" descr="preprocessing for deep learning">
            <a:extLst>
              <a:ext uri="{FF2B5EF4-FFF2-40B4-BE49-F238E27FC236}">
                <a16:creationId xmlns:a16="http://schemas.microsoft.com/office/drawing/2014/main" id="{6C2EA145-9496-999F-DD50-78B037198C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2692" y="955292"/>
            <a:ext cx="4465007" cy="4465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014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BB4C33-E03B-6966-278B-31F458B3A6D9}"/>
              </a:ext>
            </a:extLst>
          </p:cNvPr>
          <p:cNvSpPr>
            <a:spLocks noGrp="1"/>
          </p:cNvSpPr>
          <p:nvPr>
            <p:ph idx="1"/>
          </p:nvPr>
        </p:nvSpPr>
        <p:spPr>
          <a:xfrm>
            <a:off x="683964" y="1098511"/>
            <a:ext cx="6058359" cy="4762462"/>
          </a:xfrm>
        </p:spPr>
        <p:txBody>
          <a:bodyPr>
            <a:normAutofit fontScale="92500" lnSpcReduction="10000"/>
          </a:bodyPr>
          <a:lstStyle/>
          <a:p>
            <a:pPr marL="0" indent="0" algn="just">
              <a:buNone/>
            </a:pPr>
            <a:r>
              <a:rPr lang="en-US" b="1" dirty="0">
                <a:latin typeface="Times New Roman" panose="02020603050405020304" pitchFamily="18" charset="0"/>
                <a:cs typeface="Times New Roman" panose="02020603050405020304" pitchFamily="18" charset="0"/>
              </a:rPr>
              <a:t>Training and Testing: </a:t>
            </a:r>
          </a:p>
          <a:p>
            <a:pPr marL="0" indent="0" algn="just">
              <a:lnSpc>
                <a:spcPct val="110000"/>
              </a:lnSpc>
              <a:buNone/>
            </a:pPr>
            <a:r>
              <a:rPr lang="en-US" dirty="0">
                <a:latin typeface="Times New Roman" panose="02020603050405020304" pitchFamily="18" charset="0"/>
                <a:cs typeface="Times New Roman" panose="02020603050405020304" pitchFamily="18" charset="0"/>
              </a:rPr>
              <a:t>A deep learning model is trained and tested using the preprocessed data. CNNs for feature extraction, an attention mechanism for concentrating on important frame regions, and LSTMs for capturing temporal correlations between frames make up the model architecture. While testing assesses the model's performance, training entails discovering patterns in both actual and synthetic video samples.</a:t>
            </a:r>
          </a:p>
          <a:p>
            <a:pPr marL="0" indent="0" algn="just">
              <a:buNone/>
            </a:pPr>
            <a:endParaRPr lang="en-IN" dirty="0"/>
          </a:p>
        </p:txBody>
      </p:sp>
      <p:pic>
        <p:nvPicPr>
          <p:cNvPr id="6147" name="Picture 3" descr="training and testing in deep learning algorithm">
            <a:extLst>
              <a:ext uri="{FF2B5EF4-FFF2-40B4-BE49-F238E27FC236}">
                <a16:creationId xmlns:a16="http://schemas.microsoft.com/office/drawing/2014/main" id="{0273CDAF-B46A-A44F-B74A-D4AFF3D43A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1417" y="848298"/>
            <a:ext cx="4360347" cy="4360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1972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E367B3-C1C5-87B1-17A1-CFB75FEE172A}"/>
              </a:ext>
            </a:extLst>
          </p:cNvPr>
          <p:cNvSpPr>
            <a:spLocks noGrp="1"/>
          </p:cNvSpPr>
          <p:nvPr>
            <p:ph idx="1"/>
          </p:nvPr>
        </p:nvSpPr>
        <p:spPr>
          <a:xfrm>
            <a:off x="926335" y="1109529"/>
            <a:ext cx="5011757" cy="4351338"/>
          </a:xfrm>
        </p:spPr>
        <p:txBody>
          <a:bodyPr/>
          <a:lstStyle/>
          <a:p>
            <a:pPr marL="0" indent="0" algn="just">
              <a:lnSpc>
                <a:spcPct val="100000"/>
              </a:lnSpc>
              <a:buNone/>
            </a:pPr>
            <a:endParaRPr lang="en-US" dirty="0">
              <a:latin typeface="Times New Roman" panose="02020603050405020304" pitchFamily="18" charset="0"/>
              <a:cs typeface="Times New Roman" panose="02020603050405020304" pitchFamily="18" charset="0"/>
            </a:endParaRPr>
          </a:p>
          <a:p>
            <a:pPr marL="0" indent="0" algn="just">
              <a:lnSpc>
                <a:spcPct val="100000"/>
              </a:lnSpc>
              <a:buNone/>
            </a:pPr>
            <a:r>
              <a:rPr lang="en-US" b="1" dirty="0">
                <a:latin typeface="Times New Roman" panose="02020603050405020304" pitchFamily="18" charset="0"/>
                <a:cs typeface="Times New Roman" panose="02020603050405020304" pitchFamily="18" charset="0"/>
              </a:rPr>
              <a:t>Prediction:</a:t>
            </a:r>
          </a:p>
          <a:p>
            <a:pPr marL="0" indent="0" algn="just">
              <a:lnSpc>
                <a:spcPct val="100000"/>
              </a:lnSpc>
              <a:buNone/>
            </a:pPr>
            <a:r>
              <a:rPr lang="en-US" dirty="0">
                <a:latin typeface="Times New Roman" panose="02020603050405020304" pitchFamily="18" charset="0"/>
                <a:cs typeface="Times New Roman" panose="02020603050405020304" pitchFamily="18" charset="0"/>
              </a:rPr>
              <a:t>A specific video is analyzed by the model following training. In order to identify irregularities or discrepancies suggestive of deepfake manipulation, it analyzes the frames.</a:t>
            </a:r>
          </a:p>
          <a:p>
            <a:pPr algn="just">
              <a:lnSpc>
                <a:spcPct val="100000"/>
              </a:lnSpc>
            </a:pPr>
            <a:endParaRPr lang="en-IN" dirty="0">
              <a:latin typeface="Times New Roman" panose="02020603050405020304" pitchFamily="18" charset="0"/>
              <a:cs typeface="Times New Roman" panose="02020603050405020304" pitchFamily="18" charset="0"/>
            </a:endParaRPr>
          </a:p>
        </p:txBody>
      </p:sp>
      <p:pic>
        <p:nvPicPr>
          <p:cNvPr id="8194" name="Picture 2" descr="prediction in deep learning">
            <a:extLst>
              <a:ext uri="{FF2B5EF4-FFF2-40B4-BE49-F238E27FC236}">
                <a16:creationId xmlns:a16="http://schemas.microsoft.com/office/drawing/2014/main" id="{AB256807-AF16-B7E5-82D0-A03B957A2C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3408" y="1109529"/>
            <a:ext cx="3894463" cy="3894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2292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259EEAE-775C-89C9-7635-562DE85BB0C2}"/>
              </a:ext>
            </a:extLst>
          </p:cNvPr>
          <p:cNvPicPr>
            <a:picLocks noChangeAspect="1"/>
          </p:cNvPicPr>
          <p:nvPr/>
        </p:nvPicPr>
        <p:blipFill>
          <a:blip r:embed="rId2"/>
          <a:stretch>
            <a:fillRect/>
          </a:stretch>
        </p:blipFill>
        <p:spPr>
          <a:xfrm>
            <a:off x="749147" y="1442311"/>
            <a:ext cx="4342006" cy="4279381"/>
          </a:xfrm>
          <a:prstGeom prst="rect">
            <a:avLst/>
          </a:prstGeom>
        </p:spPr>
      </p:pic>
      <p:pic>
        <p:nvPicPr>
          <p:cNvPr id="9" name="Picture 8">
            <a:extLst>
              <a:ext uri="{FF2B5EF4-FFF2-40B4-BE49-F238E27FC236}">
                <a16:creationId xmlns:a16="http://schemas.microsoft.com/office/drawing/2014/main" id="{5E1C2EA6-E82F-D324-F45C-3F704FB78C07}"/>
              </a:ext>
            </a:extLst>
          </p:cNvPr>
          <p:cNvPicPr>
            <a:picLocks noChangeAspect="1"/>
          </p:cNvPicPr>
          <p:nvPr/>
        </p:nvPicPr>
        <p:blipFill>
          <a:blip r:embed="rId3"/>
          <a:stretch>
            <a:fillRect/>
          </a:stretch>
        </p:blipFill>
        <p:spPr>
          <a:xfrm>
            <a:off x="6520539" y="1167788"/>
            <a:ext cx="4732362" cy="4750540"/>
          </a:xfrm>
          <a:prstGeom prst="rect">
            <a:avLst/>
          </a:prstGeom>
        </p:spPr>
      </p:pic>
      <p:sp>
        <p:nvSpPr>
          <p:cNvPr id="10" name="TextBox 9">
            <a:extLst>
              <a:ext uri="{FF2B5EF4-FFF2-40B4-BE49-F238E27FC236}">
                <a16:creationId xmlns:a16="http://schemas.microsoft.com/office/drawing/2014/main" id="{58A1A7C1-8622-0152-4258-24B1BE385921}"/>
              </a:ext>
            </a:extLst>
          </p:cNvPr>
          <p:cNvSpPr txBox="1"/>
          <p:nvPr/>
        </p:nvSpPr>
        <p:spPr>
          <a:xfrm>
            <a:off x="3038163" y="570340"/>
            <a:ext cx="6610120" cy="369332"/>
          </a:xfrm>
          <a:prstGeom prst="rect">
            <a:avLst/>
          </a:prstGeom>
          <a:noFill/>
        </p:spPr>
        <p:txBody>
          <a:bodyPr wrap="square" rtlCol="0">
            <a:spAutoFit/>
          </a:bodyPr>
          <a:lstStyle/>
          <a:p>
            <a:r>
              <a:rPr lang="en-IN" b="1" dirty="0"/>
              <a:t>Sample screenshot of the video to represent the dataset </a:t>
            </a:r>
          </a:p>
        </p:txBody>
      </p:sp>
      <p:sp>
        <p:nvSpPr>
          <p:cNvPr id="2" name="TextBox 1">
            <a:extLst>
              <a:ext uri="{FF2B5EF4-FFF2-40B4-BE49-F238E27FC236}">
                <a16:creationId xmlns:a16="http://schemas.microsoft.com/office/drawing/2014/main" id="{36D31162-918A-3E1A-2059-A48AA4D8EE7F}"/>
              </a:ext>
            </a:extLst>
          </p:cNvPr>
          <p:cNvSpPr txBox="1"/>
          <p:nvPr/>
        </p:nvSpPr>
        <p:spPr>
          <a:xfrm>
            <a:off x="1665514" y="6019800"/>
            <a:ext cx="1883229" cy="369332"/>
          </a:xfrm>
          <a:prstGeom prst="rect">
            <a:avLst/>
          </a:prstGeom>
          <a:noFill/>
        </p:spPr>
        <p:txBody>
          <a:bodyPr wrap="square" rtlCol="0">
            <a:spAutoFit/>
          </a:bodyPr>
          <a:lstStyle/>
          <a:p>
            <a:r>
              <a:rPr lang="en-US" dirty="0"/>
              <a:t>REAL</a:t>
            </a:r>
            <a:endParaRPr lang="en-IN" dirty="0"/>
          </a:p>
        </p:txBody>
      </p:sp>
      <p:sp>
        <p:nvSpPr>
          <p:cNvPr id="3" name="TextBox 2">
            <a:extLst>
              <a:ext uri="{FF2B5EF4-FFF2-40B4-BE49-F238E27FC236}">
                <a16:creationId xmlns:a16="http://schemas.microsoft.com/office/drawing/2014/main" id="{7A5B4C0B-FE54-90F6-7006-5B848E7303A6}"/>
              </a:ext>
            </a:extLst>
          </p:cNvPr>
          <p:cNvSpPr txBox="1"/>
          <p:nvPr/>
        </p:nvSpPr>
        <p:spPr>
          <a:xfrm>
            <a:off x="8044543" y="6128657"/>
            <a:ext cx="1458686" cy="369332"/>
          </a:xfrm>
          <a:prstGeom prst="rect">
            <a:avLst/>
          </a:prstGeom>
          <a:noFill/>
        </p:spPr>
        <p:txBody>
          <a:bodyPr wrap="square" rtlCol="0">
            <a:spAutoFit/>
          </a:bodyPr>
          <a:lstStyle/>
          <a:p>
            <a:r>
              <a:rPr lang="en-US" dirty="0"/>
              <a:t>FAKE</a:t>
            </a:r>
            <a:endParaRPr lang="en-IN" dirty="0"/>
          </a:p>
        </p:txBody>
      </p:sp>
    </p:spTree>
    <p:extLst>
      <p:ext uri="{BB962C8B-B14F-4D97-AF65-F5344CB8AC3E}">
        <p14:creationId xmlns:p14="http://schemas.microsoft.com/office/powerpoint/2010/main" val="1769680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8794E-3FCF-A184-C45B-FDB48CFF510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Results and Discussion</a:t>
            </a:r>
            <a:endParaRPr lang="en-IN" dirty="0"/>
          </a:p>
        </p:txBody>
      </p:sp>
      <p:sp>
        <p:nvSpPr>
          <p:cNvPr id="4" name="Content Placeholder 3">
            <a:extLst>
              <a:ext uri="{FF2B5EF4-FFF2-40B4-BE49-F238E27FC236}">
                <a16:creationId xmlns:a16="http://schemas.microsoft.com/office/drawing/2014/main" id="{5CBBAC49-FCD3-83B9-18F5-1E269D873B00}"/>
              </a:ext>
            </a:extLst>
          </p:cNvPr>
          <p:cNvSpPr>
            <a:spLocks noGrp="1"/>
          </p:cNvSpPr>
          <p:nvPr>
            <p:ph idx="1"/>
          </p:nvPr>
        </p:nvSpPr>
        <p:spPr/>
        <p:txBody>
          <a:bodyPr/>
          <a:lstStyle/>
          <a:p>
            <a:r>
              <a:rPr lang="en-IN" sz="2800" dirty="0"/>
              <a:t>CNN-LSTM </a:t>
            </a:r>
          </a:p>
          <a:p>
            <a:r>
              <a:rPr lang="en-US" sz="2800" dirty="0" err="1"/>
              <a:t>Ensembling</a:t>
            </a:r>
            <a:r>
              <a:rPr lang="en-US" sz="2800" dirty="0"/>
              <a:t> models (New Model)</a:t>
            </a:r>
          </a:p>
          <a:p>
            <a:pPr marL="0" indent="0">
              <a:buNone/>
            </a:pPr>
            <a:r>
              <a:rPr lang="en-IN" sz="2800" dirty="0" err="1"/>
              <a:t>cnn_lstm_model</a:t>
            </a:r>
            <a:r>
              <a:rPr lang="en-IN" sz="2800" dirty="0"/>
              <a:t>(),</a:t>
            </a:r>
            <a:r>
              <a:rPr lang="en-IN" sz="2800" dirty="0" err="1"/>
              <a:t>xception_lstm_model</a:t>
            </a:r>
            <a:r>
              <a:rPr lang="en-IN" sz="2800" dirty="0"/>
              <a:t>(),</a:t>
            </a:r>
            <a:r>
              <a:rPr lang="en-IN" sz="2800" dirty="0" err="1"/>
              <a:t>bidirectional_lstm_model</a:t>
            </a:r>
            <a:r>
              <a:rPr lang="en-IN" sz="2800" dirty="0"/>
              <a:t>()</a:t>
            </a:r>
          </a:p>
          <a:p>
            <a:r>
              <a:rPr lang="en-IN" dirty="0" err="1"/>
              <a:t>Tranfer</a:t>
            </a:r>
            <a:r>
              <a:rPr lang="en-IN" dirty="0"/>
              <a:t> learning :</a:t>
            </a:r>
            <a:r>
              <a:rPr lang="en-IN" dirty="0" err="1"/>
              <a:t>Xception</a:t>
            </a:r>
            <a:endParaRPr lang="en-IN" dirty="0"/>
          </a:p>
          <a:p>
            <a:r>
              <a:rPr lang="en-IN" dirty="0" err="1"/>
              <a:t>Tranfer</a:t>
            </a:r>
            <a:r>
              <a:rPr lang="en-IN" dirty="0"/>
              <a:t> learning: </a:t>
            </a:r>
            <a:r>
              <a:rPr lang="en-IN" dirty="0" err="1"/>
              <a:t>Xception</a:t>
            </a:r>
            <a:r>
              <a:rPr lang="en-IN" dirty="0"/>
              <a:t> as base and </a:t>
            </a:r>
            <a:r>
              <a:rPr lang="en-IN" dirty="0" err="1"/>
              <a:t>Vgg</a:t>
            </a:r>
            <a:r>
              <a:rPr lang="en-IN" dirty="0"/>
              <a:t> 16 (New Model)</a:t>
            </a:r>
          </a:p>
          <a:p>
            <a:r>
              <a:rPr lang="en-IN" dirty="0" err="1"/>
              <a:t>CNN_lstm</a:t>
            </a:r>
            <a:r>
              <a:rPr lang="en-IN" dirty="0"/>
              <a:t> with attention layer(New Model)</a:t>
            </a:r>
          </a:p>
          <a:p>
            <a:endParaRPr lang="en-IN" sz="2800" dirty="0"/>
          </a:p>
          <a:p>
            <a:endParaRPr lang="en-IN" sz="2800" dirty="0"/>
          </a:p>
          <a:p>
            <a:pPr marL="0" indent="0">
              <a:buNone/>
            </a:pPr>
            <a:endParaRPr lang="en-IN" dirty="0"/>
          </a:p>
        </p:txBody>
      </p:sp>
    </p:spTree>
    <p:extLst>
      <p:ext uri="{BB962C8B-B14F-4D97-AF65-F5344CB8AC3E}">
        <p14:creationId xmlns:p14="http://schemas.microsoft.com/office/powerpoint/2010/main" val="3280553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270D4-27FA-4103-A160-12AD629AF3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85344-F077-5096-828F-B797819F918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CNN-LSTM</a:t>
            </a:r>
            <a:endParaRPr lang="en-IN" dirty="0"/>
          </a:p>
        </p:txBody>
      </p:sp>
      <p:sp>
        <p:nvSpPr>
          <p:cNvPr id="4" name="Content Placeholder 3">
            <a:extLst>
              <a:ext uri="{FF2B5EF4-FFF2-40B4-BE49-F238E27FC236}">
                <a16:creationId xmlns:a16="http://schemas.microsoft.com/office/drawing/2014/main" id="{78509ACF-94A7-975F-CD59-1BD3B070D3D7}"/>
              </a:ext>
            </a:extLst>
          </p:cNvPr>
          <p:cNvSpPr>
            <a:spLocks noGrp="1"/>
          </p:cNvSpPr>
          <p:nvPr>
            <p:ph idx="1"/>
          </p:nvPr>
        </p:nvSpPr>
        <p:spPr/>
        <p:txBody>
          <a:bodyPr/>
          <a:lstStyle/>
          <a:p>
            <a:pPr marL="0" indent="0">
              <a:buNone/>
            </a:pPr>
            <a:endParaRPr lang="en-IN" dirty="0"/>
          </a:p>
          <a:p>
            <a:endParaRPr lang="en-IN" sz="2800" dirty="0"/>
          </a:p>
          <a:p>
            <a:endParaRPr lang="en-IN" sz="2800" dirty="0"/>
          </a:p>
          <a:p>
            <a:pPr marL="0" indent="0">
              <a:buNone/>
            </a:pPr>
            <a:endParaRPr lang="en-IN" dirty="0"/>
          </a:p>
        </p:txBody>
      </p:sp>
      <p:pic>
        <p:nvPicPr>
          <p:cNvPr id="1026" name="Picture 2" descr="CNN-LSTM image model">
            <a:extLst>
              <a:ext uri="{FF2B5EF4-FFF2-40B4-BE49-F238E27FC236}">
                <a16:creationId xmlns:a16="http://schemas.microsoft.com/office/drawing/2014/main" id="{FAD47AFD-14FD-DF9D-FEED-81501C6BA1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0483" y="1266825"/>
            <a:ext cx="4667250" cy="46672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289D810-51DC-143C-0843-417DB332AB9F}"/>
              </a:ext>
            </a:extLst>
          </p:cNvPr>
          <p:cNvSpPr txBox="1"/>
          <p:nvPr/>
        </p:nvSpPr>
        <p:spPr>
          <a:xfrm>
            <a:off x="718457" y="1534886"/>
            <a:ext cx="5453743" cy="4247317"/>
          </a:xfrm>
          <a:prstGeom prst="rect">
            <a:avLst/>
          </a:prstGeom>
          <a:noFill/>
        </p:spPr>
        <p:txBody>
          <a:bodyPr wrap="square" rtlCol="0">
            <a:spAutoFit/>
          </a:bodyPr>
          <a:lstStyle/>
          <a:p>
            <a:pPr algn="just"/>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CNN effectively identifies visual distortions such as artificially created textures or shadows by extracting spatial characteristics from video frames. In order to identify minute variations in motion or temporal irregularities, LSTM records sequential information across frames. However, LSTM is unable to extract fine-grained spatial data, while CNN is unable to model temporal connections on its own. For video-based applications like deepfake detection, the hybrid model is quite successful since it combines CNNs for spatial analysis with LSTMs for temporal interactions. TensorFlow/</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Keras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TimeDistributed</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wrapper makes it possible to process sequential frame data with ease, which makes the framework perfect for CNN-LSTM architecture implementation.</a:t>
            </a:r>
          </a:p>
        </p:txBody>
      </p:sp>
    </p:spTree>
    <p:extLst>
      <p:ext uri="{BB962C8B-B14F-4D97-AF65-F5344CB8AC3E}">
        <p14:creationId xmlns:p14="http://schemas.microsoft.com/office/powerpoint/2010/main" val="1246240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8DBEC-4E08-8F1F-0618-45FBB94C21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CE978A-271B-2259-C0BD-5B89A8B10B19}"/>
              </a:ext>
            </a:extLst>
          </p:cNvPr>
          <p:cNvSpPr>
            <a:spLocks noGrp="1"/>
          </p:cNvSpPr>
          <p:nvPr>
            <p:ph type="title"/>
          </p:nvPr>
        </p:nvSpPr>
        <p:spPr>
          <a:xfrm>
            <a:off x="1193799" y="-210441"/>
            <a:ext cx="10515600" cy="1325563"/>
          </a:xfrm>
        </p:spPr>
        <p:txBody>
          <a:bodyPr>
            <a:normAutofit/>
          </a:bodyPr>
          <a:lstStyle/>
          <a:p>
            <a:pPr algn="ctr"/>
            <a:r>
              <a:rPr lang="en-US" sz="3200" b="1" dirty="0">
                <a:latin typeface="Times New Roman" panose="02020603050405020304" pitchFamily="18" charset="0"/>
                <a:cs typeface="Times New Roman" panose="02020603050405020304" pitchFamily="18" charset="0"/>
              </a:rPr>
              <a:t>ENSEMBLING MODEL</a:t>
            </a:r>
            <a:endParaRPr lang="en-IN" sz="3200" dirty="0"/>
          </a:p>
        </p:txBody>
      </p:sp>
      <p:sp>
        <p:nvSpPr>
          <p:cNvPr id="4" name="Content Placeholder 3">
            <a:extLst>
              <a:ext uri="{FF2B5EF4-FFF2-40B4-BE49-F238E27FC236}">
                <a16:creationId xmlns:a16="http://schemas.microsoft.com/office/drawing/2014/main" id="{82823E74-4D9E-A0D8-3701-6F50272D5E7F}"/>
              </a:ext>
            </a:extLst>
          </p:cNvPr>
          <p:cNvSpPr>
            <a:spLocks noGrp="1"/>
          </p:cNvSpPr>
          <p:nvPr>
            <p:ph idx="1"/>
          </p:nvPr>
        </p:nvSpPr>
        <p:spPr/>
        <p:txBody>
          <a:bodyPr/>
          <a:lstStyle/>
          <a:p>
            <a:pPr marL="0" indent="0">
              <a:buNone/>
            </a:pPr>
            <a:endParaRPr lang="en-IN" sz="2800" dirty="0"/>
          </a:p>
          <a:p>
            <a:endParaRPr lang="en-IN" sz="2800" dirty="0"/>
          </a:p>
          <a:p>
            <a:pPr marL="0" indent="0">
              <a:buNone/>
            </a:pPr>
            <a:endParaRPr lang="en-IN" dirty="0"/>
          </a:p>
        </p:txBody>
      </p:sp>
      <p:pic>
        <p:nvPicPr>
          <p:cNvPr id="2050" name="Picture 2" descr="deep learning model with three algorithms combined">
            <a:extLst>
              <a:ext uri="{FF2B5EF4-FFF2-40B4-BE49-F238E27FC236}">
                <a16:creationId xmlns:a16="http://schemas.microsoft.com/office/drawing/2014/main" id="{9E0B7189-9A17-AD6C-015A-09580CBF47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5966" y="1115122"/>
            <a:ext cx="4673433" cy="467343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A566D78-A55F-3E30-C489-C1A48E124D72}"/>
              </a:ext>
            </a:extLst>
          </p:cNvPr>
          <p:cNvSpPr txBox="1"/>
          <p:nvPr/>
        </p:nvSpPr>
        <p:spPr>
          <a:xfrm>
            <a:off x="393391" y="641170"/>
            <a:ext cx="6518094" cy="6216830"/>
          </a:xfrm>
          <a:prstGeom prst="rect">
            <a:avLst/>
          </a:prstGeom>
          <a:noFill/>
        </p:spPr>
        <p:txBody>
          <a:bodyPr wrap="square" rtlCol="0">
            <a:spAutoFit/>
          </a:bodyPr>
          <a:lstStyle/>
          <a:p>
            <a:pPr marL="0" marR="0" algn="just">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CNN-LSTM: Identifies motion irregularities and visual artifacts by extracting spatial information and temporal relationships.</a:t>
            </a:r>
          </a:p>
          <a:p>
            <a:pPr marL="0" marR="0" algn="just">
              <a:lnSpc>
                <a:spcPct val="107000"/>
              </a:lnSpc>
              <a:spcAft>
                <a:spcPts val="800"/>
              </a:spcAft>
            </a:pP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Xception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-based CNN-LSTM: This type of CNN combines LSTM for temporal patterns with the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Xception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model, which is a potent pre-trained feature extractor for in-depth spatial analysis.</a:t>
            </a:r>
          </a:p>
          <a:p>
            <a:pPr marL="0" marR="0" algn="just">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Bidirectional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LSTM:For</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more thorough temporal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modeling</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bidirectional LSTM records both forward and backward temporal dependencies. </a:t>
            </a:r>
          </a:p>
          <a:p>
            <a:pPr marL="0" marR="0" algn="just">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Through the integration of several viewpoints, including spatial, temporal, and bidirectional analysis,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ensembling</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improves model reliability in deepfake detection. It lessens the danger of depending just on the shortcomings of one model. The ensemble guarantees improved generalization for identifying deepfake anomalies across diverse datasets by combining CNN-LSTM,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Xception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-LSTM, and Bidirectional LSTM.</a:t>
            </a:r>
          </a:p>
          <a:p>
            <a:pPr marL="0" marR="0" algn="just">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For complex applications like deepfake identification, where artifacts may show subtly and inconsistently between frames, this approach is particularly helpful.</a:t>
            </a:r>
          </a:p>
          <a:p>
            <a:pPr algn="just"/>
            <a:endParaRPr lang="en-IN" dirty="0"/>
          </a:p>
        </p:txBody>
      </p:sp>
    </p:spTree>
    <p:extLst>
      <p:ext uri="{BB962C8B-B14F-4D97-AF65-F5344CB8AC3E}">
        <p14:creationId xmlns:p14="http://schemas.microsoft.com/office/powerpoint/2010/main" val="3635465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D0C4C-7C83-6230-E569-7C3D87FD15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8BBA0A-25AE-2322-FCD1-4D253EE6D015}"/>
              </a:ext>
            </a:extLst>
          </p:cNvPr>
          <p:cNvSpPr>
            <a:spLocks noGrp="1"/>
          </p:cNvSpPr>
          <p:nvPr>
            <p:ph type="title"/>
          </p:nvPr>
        </p:nvSpPr>
        <p:spPr/>
        <p:txBody>
          <a:bodyPr/>
          <a:lstStyle/>
          <a:p>
            <a:r>
              <a:rPr lang="en-IN" b="1" dirty="0"/>
              <a:t>Transfer learning :</a:t>
            </a:r>
            <a:r>
              <a:rPr lang="en-IN" b="1" dirty="0" err="1"/>
              <a:t>Xception</a:t>
            </a:r>
            <a:endParaRPr lang="en-IN" b="1" dirty="0"/>
          </a:p>
        </p:txBody>
      </p:sp>
      <p:sp>
        <p:nvSpPr>
          <p:cNvPr id="4" name="Content Placeholder 3">
            <a:extLst>
              <a:ext uri="{FF2B5EF4-FFF2-40B4-BE49-F238E27FC236}">
                <a16:creationId xmlns:a16="http://schemas.microsoft.com/office/drawing/2014/main" id="{366F7C1B-6BB0-16A3-92B8-68E17DDF3C59}"/>
              </a:ext>
            </a:extLst>
          </p:cNvPr>
          <p:cNvSpPr>
            <a:spLocks noGrp="1"/>
          </p:cNvSpPr>
          <p:nvPr>
            <p:ph idx="1"/>
          </p:nvPr>
        </p:nvSpPr>
        <p:spPr/>
        <p:txBody>
          <a:bodyPr/>
          <a:lstStyle/>
          <a:p>
            <a:pPr marL="0" indent="0">
              <a:buNone/>
            </a:pPr>
            <a:endParaRPr lang="en-IN" dirty="0"/>
          </a:p>
          <a:p>
            <a:endParaRPr lang="en-IN" sz="2800" dirty="0"/>
          </a:p>
          <a:p>
            <a:endParaRPr lang="en-IN" sz="2800" dirty="0"/>
          </a:p>
          <a:p>
            <a:pPr marL="0" indent="0">
              <a:buNone/>
            </a:pPr>
            <a:endParaRPr lang="en-IN" dirty="0"/>
          </a:p>
        </p:txBody>
      </p:sp>
      <p:pic>
        <p:nvPicPr>
          <p:cNvPr id="3074" name="Picture 2" descr="transfer learning in deep learning">
            <a:extLst>
              <a:ext uri="{FF2B5EF4-FFF2-40B4-BE49-F238E27FC236}">
                <a16:creationId xmlns:a16="http://schemas.microsoft.com/office/drawing/2014/main" id="{0446F044-008B-5BE9-5528-90A0015297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1133" y="1303867"/>
            <a:ext cx="4673600" cy="46736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5A93665-78E0-C7BD-4C0F-DA71C5D0D8FF}"/>
              </a:ext>
            </a:extLst>
          </p:cNvPr>
          <p:cNvSpPr txBox="1"/>
          <p:nvPr/>
        </p:nvSpPr>
        <p:spPr>
          <a:xfrm>
            <a:off x="838200" y="1550020"/>
            <a:ext cx="4993888" cy="4524315"/>
          </a:xfrm>
          <a:prstGeom prst="rect">
            <a:avLst/>
          </a:prstGeom>
          <a:noFill/>
        </p:spPr>
        <p:txBody>
          <a:bodyPr wrap="square" rtlCol="0">
            <a:spAutoFit/>
          </a:bodyPr>
          <a:lstStyle/>
          <a:p>
            <a:pPr algn="just"/>
            <a:r>
              <a:rPr lang="en-IN" sz="1800" kern="100" dirty="0">
                <a:effectLst/>
                <a:latin typeface="Calibri" panose="020F0502020204030204" pitchFamily="34" charset="0"/>
                <a:ea typeface="Calibri" panose="020F0502020204030204" pitchFamily="34" charset="0"/>
                <a:cs typeface="Times New Roman" panose="02020603050405020304" pitchFamily="18" charset="0"/>
              </a:rPr>
              <a:t>Leverages Pre-trained Knowledge: The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Xception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model has a solid basis for feature extraction because it has already been trained on millions of photos. Robust spatial information are extracted from every video frame using the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Xception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model.It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is possible that deepfake datasets are not always large. Even with a small amount of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labeled</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data, the model can generalize more effectively because to transfer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learning.Each</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video frame is processed by the CNN-LSTM model based on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Xception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which uses the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Xception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architecture to extract spatial features. Then, in order to more successfully identify deepfake films, LSTMs record temporal irregularities (such as abnormal motion between frames).</a:t>
            </a:r>
          </a:p>
          <a:p>
            <a:endParaRPr lang="en-IN" dirty="0"/>
          </a:p>
        </p:txBody>
      </p:sp>
    </p:spTree>
    <p:extLst>
      <p:ext uri="{BB962C8B-B14F-4D97-AF65-F5344CB8AC3E}">
        <p14:creationId xmlns:p14="http://schemas.microsoft.com/office/powerpoint/2010/main" val="2766521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2EB2A-062F-42C3-D0E4-4124C7F26F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62F08-8BBD-19CA-2AED-5D8C7DA8AEB0}"/>
              </a:ext>
            </a:extLst>
          </p:cNvPr>
          <p:cNvSpPr>
            <a:spLocks noGrp="1"/>
          </p:cNvSpPr>
          <p:nvPr>
            <p:ph type="title"/>
          </p:nvPr>
        </p:nvSpPr>
        <p:spPr>
          <a:xfrm>
            <a:off x="548269" y="159657"/>
            <a:ext cx="10515600" cy="1325563"/>
          </a:xfrm>
        </p:spPr>
        <p:txBody>
          <a:bodyPr/>
          <a:lstStyle/>
          <a:p>
            <a:r>
              <a:rPr lang="en-IN" b="1" dirty="0"/>
              <a:t>Transfer learning :</a:t>
            </a:r>
            <a:r>
              <a:rPr lang="en-IN" b="1" dirty="0" err="1"/>
              <a:t>Xception</a:t>
            </a:r>
            <a:r>
              <a:rPr lang="en-IN" b="1" dirty="0"/>
              <a:t> and VGG16</a:t>
            </a:r>
          </a:p>
        </p:txBody>
      </p:sp>
      <p:pic>
        <p:nvPicPr>
          <p:cNvPr id="4098" name="Picture 2" descr="transfer learning combining Xception model and VGG16 in deep learning">
            <a:extLst>
              <a:ext uri="{FF2B5EF4-FFF2-40B4-BE49-F238E27FC236}">
                <a16:creationId xmlns:a16="http://schemas.microsoft.com/office/drawing/2014/main" id="{93D7FF6A-50C0-F38A-2BB6-2DA2F37D19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53941" y="1485220"/>
            <a:ext cx="4691743" cy="469174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1434ADE-F2BF-24EA-4E8D-1D41F96192DD}"/>
              </a:ext>
            </a:extLst>
          </p:cNvPr>
          <p:cNvSpPr txBox="1"/>
          <p:nvPr/>
        </p:nvSpPr>
        <p:spPr>
          <a:xfrm>
            <a:off x="446316" y="1733891"/>
            <a:ext cx="6094140" cy="3635547"/>
          </a:xfrm>
          <a:prstGeom prst="rect">
            <a:avLst/>
          </a:prstGeom>
          <a:noFill/>
        </p:spPr>
        <p:txBody>
          <a:bodyPr wrap="square">
            <a:spAutoFit/>
          </a:bodyPr>
          <a:lstStyle/>
          <a:p>
            <a:pPr marL="0" marR="0" algn="just">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 potent convolutional neural network (CNN),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Xception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is renowned for its remarkable ability to extract fine-grained spatial data. It serves as the framework for obtaining features from every video frame in this configuration. As a branch model, VGG16: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Xception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is utilized together with VGG16, a deep CNN architecture, to improve feature extraction through the usage of a complementary branch. The goal of the combination is to capitalize on each model's advantages. LSTM for temporal analysis: LSTM examines sequential relationships between video frames to acquire temporal information essential for detecting deepfakes, following the extraction of spatial features by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Xception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and VGG16.</a:t>
            </a:r>
          </a:p>
        </p:txBody>
      </p:sp>
    </p:spTree>
    <p:extLst>
      <p:ext uri="{BB962C8B-B14F-4D97-AF65-F5344CB8AC3E}">
        <p14:creationId xmlns:p14="http://schemas.microsoft.com/office/powerpoint/2010/main" val="17892535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CFCE2-98FF-7F98-A588-614ECAF50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1D965C-3812-9CAF-DA14-DB631CDCEE60}"/>
              </a:ext>
            </a:extLst>
          </p:cNvPr>
          <p:cNvSpPr>
            <a:spLocks noGrp="1"/>
          </p:cNvSpPr>
          <p:nvPr>
            <p:ph type="title"/>
          </p:nvPr>
        </p:nvSpPr>
        <p:spPr>
          <a:xfrm>
            <a:off x="838200" y="365126"/>
            <a:ext cx="9971314" cy="756104"/>
          </a:xfrm>
        </p:spPr>
        <p:txBody>
          <a:bodyPr/>
          <a:lstStyle/>
          <a:p>
            <a:r>
              <a:rPr lang="en-IN" b="1" dirty="0"/>
              <a:t>ATTENTION MECHANISM</a:t>
            </a:r>
          </a:p>
        </p:txBody>
      </p:sp>
      <p:sp>
        <p:nvSpPr>
          <p:cNvPr id="4" name="Content Placeholder 3">
            <a:extLst>
              <a:ext uri="{FF2B5EF4-FFF2-40B4-BE49-F238E27FC236}">
                <a16:creationId xmlns:a16="http://schemas.microsoft.com/office/drawing/2014/main" id="{FB8402DA-124F-D680-2016-053FA40334BA}"/>
              </a:ext>
            </a:extLst>
          </p:cNvPr>
          <p:cNvSpPr>
            <a:spLocks noGrp="1"/>
          </p:cNvSpPr>
          <p:nvPr>
            <p:ph idx="1"/>
          </p:nvPr>
        </p:nvSpPr>
        <p:spPr/>
        <p:txBody>
          <a:bodyPr/>
          <a:lstStyle/>
          <a:p>
            <a:pPr marL="0" indent="0">
              <a:buNone/>
            </a:pPr>
            <a:endParaRPr lang="en-IN" dirty="0"/>
          </a:p>
          <a:p>
            <a:endParaRPr lang="en-IN" sz="2800" dirty="0"/>
          </a:p>
          <a:p>
            <a:endParaRPr lang="en-IN" sz="2800" dirty="0"/>
          </a:p>
          <a:p>
            <a:pPr marL="0" indent="0">
              <a:buNone/>
            </a:pPr>
            <a:endParaRPr lang="en-IN" dirty="0"/>
          </a:p>
        </p:txBody>
      </p:sp>
      <p:pic>
        <p:nvPicPr>
          <p:cNvPr id="5122" name="Picture 2" descr="Attention mechanism with CNN-LSTM in Deep learning">
            <a:extLst>
              <a:ext uri="{FF2B5EF4-FFF2-40B4-BE49-F238E27FC236}">
                <a16:creationId xmlns:a16="http://schemas.microsoft.com/office/drawing/2014/main" id="{6138F963-799E-ED9F-E5D1-A0E1677FF8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0542" y="1328058"/>
            <a:ext cx="4691743" cy="484890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E2C3C0C-1E41-03EE-0B20-2E3EF6FD63AA}"/>
              </a:ext>
            </a:extLst>
          </p:cNvPr>
          <p:cNvSpPr txBox="1"/>
          <p:nvPr/>
        </p:nvSpPr>
        <p:spPr>
          <a:xfrm>
            <a:off x="696685" y="1121230"/>
            <a:ext cx="4833259" cy="5612690"/>
          </a:xfrm>
          <a:prstGeom prst="rect">
            <a:avLst/>
          </a:prstGeom>
          <a:noFill/>
        </p:spPr>
        <p:txBody>
          <a:bodyPr wrap="square" rtlCol="0">
            <a:spAutoFit/>
          </a:bodyPr>
          <a:lstStyle/>
          <a:p>
            <a:pPr marL="0" marR="0" algn="just">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CNN + LSTM: Deepfake videos with texture inconsistencies or artificial lighting are examples of fine-grained spatial features that CNN is excellent at extracting from individual frames. In order to catch temporal irregularities, like sudden changes in expressions or mismatched motion, LSTM examines the frame sequence.</a:t>
            </a:r>
          </a:p>
          <a:p>
            <a:pPr marL="0" marR="0" algn="just">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Attention Mechanism By concentrating on important aspects and disregarding unimportant details, the attention mechanism improves the interpretability of the model. Draws attention to important temporal and spatial clues that traditional CNN-LSTM models frequently overlook, such as strange motions or inconsistent frames. Aids the model in determining which frames in a sequence or which parts of a frame are essential for classification.</a:t>
            </a:r>
          </a:p>
          <a:p>
            <a:endParaRPr lang="en-IN" dirty="0"/>
          </a:p>
        </p:txBody>
      </p:sp>
    </p:spTree>
    <p:extLst>
      <p:ext uri="{BB962C8B-B14F-4D97-AF65-F5344CB8AC3E}">
        <p14:creationId xmlns:p14="http://schemas.microsoft.com/office/powerpoint/2010/main" val="28383240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AA649-0A71-596B-FA5F-D9755C1C6F07}"/>
              </a:ext>
            </a:extLst>
          </p:cNvPr>
          <p:cNvSpPr>
            <a:spLocks noGrp="1"/>
          </p:cNvSpPr>
          <p:nvPr>
            <p:ph type="title"/>
          </p:nvPr>
        </p:nvSpPr>
        <p:spPr>
          <a:xfrm>
            <a:off x="495759" y="143057"/>
            <a:ext cx="9539689" cy="439105"/>
          </a:xfrm>
        </p:spPr>
        <p:txBody>
          <a:bodyPr>
            <a:normAutofit fontScale="90000"/>
          </a:bodyPr>
          <a:lstStyle/>
          <a:p>
            <a:r>
              <a:rPr lang="en-IN" b="1" dirty="0"/>
              <a:t>Performance Analysis</a:t>
            </a:r>
          </a:p>
        </p:txBody>
      </p:sp>
      <p:graphicFrame>
        <p:nvGraphicFramePr>
          <p:cNvPr id="13" name="Content Placeholder 12">
            <a:extLst>
              <a:ext uri="{FF2B5EF4-FFF2-40B4-BE49-F238E27FC236}">
                <a16:creationId xmlns:a16="http://schemas.microsoft.com/office/drawing/2014/main" id="{625AD6D5-54FE-0B69-1119-0B49699C1523}"/>
              </a:ext>
            </a:extLst>
          </p:cNvPr>
          <p:cNvGraphicFramePr>
            <a:graphicFrameLocks noGrp="1"/>
          </p:cNvGraphicFramePr>
          <p:nvPr>
            <p:ph idx="1"/>
            <p:extLst>
              <p:ext uri="{D42A27DB-BD31-4B8C-83A1-F6EECF244321}">
                <p14:modId xmlns:p14="http://schemas.microsoft.com/office/powerpoint/2010/main" val="3489221013"/>
              </p:ext>
            </p:extLst>
          </p:nvPr>
        </p:nvGraphicFramePr>
        <p:xfrm>
          <a:off x="495759" y="582162"/>
          <a:ext cx="10769905" cy="6258403"/>
        </p:xfrm>
        <a:graphic>
          <a:graphicData uri="http://schemas.openxmlformats.org/drawingml/2006/table">
            <a:tbl>
              <a:tblPr firstRow="1" bandRow="1">
                <a:tableStyleId>{5C22544A-7EE6-4342-B048-85BDC9FD1C3A}</a:tableStyleId>
              </a:tblPr>
              <a:tblGrid>
                <a:gridCol w="2153981">
                  <a:extLst>
                    <a:ext uri="{9D8B030D-6E8A-4147-A177-3AD203B41FA5}">
                      <a16:colId xmlns:a16="http://schemas.microsoft.com/office/drawing/2014/main" val="3661714473"/>
                    </a:ext>
                  </a:extLst>
                </a:gridCol>
                <a:gridCol w="2153981">
                  <a:extLst>
                    <a:ext uri="{9D8B030D-6E8A-4147-A177-3AD203B41FA5}">
                      <a16:colId xmlns:a16="http://schemas.microsoft.com/office/drawing/2014/main" val="2257206883"/>
                    </a:ext>
                  </a:extLst>
                </a:gridCol>
                <a:gridCol w="2153981">
                  <a:extLst>
                    <a:ext uri="{9D8B030D-6E8A-4147-A177-3AD203B41FA5}">
                      <a16:colId xmlns:a16="http://schemas.microsoft.com/office/drawing/2014/main" val="3153018535"/>
                    </a:ext>
                  </a:extLst>
                </a:gridCol>
                <a:gridCol w="2153981">
                  <a:extLst>
                    <a:ext uri="{9D8B030D-6E8A-4147-A177-3AD203B41FA5}">
                      <a16:colId xmlns:a16="http://schemas.microsoft.com/office/drawing/2014/main" val="267285889"/>
                    </a:ext>
                  </a:extLst>
                </a:gridCol>
                <a:gridCol w="2153981">
                  <a:extLst>
                    <a:ext uri="{9D8B030D-6E8A-4147-A177-3AD203B41FA5}">
                      <a16:colId xmlns:a16="http://schemas.microsoft.com/office/drawing/2014/main" val="1301999197"/>
                    </a:ext>
                  </a:extLst>
                </a:gridCol>
              </a:tblGrid>
              <a:tr h="567075">
                <a:tc>
                  <a:txBody>
                    <a:bodyPr/>
                    <a:lstStyle/>
                    <a:p>
                      <a:r>
                        <a:rPr lang="en-IN" dirty="0"/>
                        <a:t>Algorithm</a:t>
                      </a:r>
                    </a:p>
                  </a:txBody>
                  <a:tcPr/>
                </a:tc>
                <a:tc>
                  <a:txBody>
                    <a:bodyPr/>
                    <a:lstStyle/>
                    <a:p>
                      <a:r>
                        <a:rPr lang="en-IN" dirty="0"/>
                        <a:t>10 epochs </a:t>
                      </a:r>
                    </a:p>
                  </a:txBody>
                  <a:tcPr/>
                </a:tc>
                <a:tc>
                  <a:txBody>
                    <a:bodyPr/>
                    <a:lstStyle/>
                    <a:p>
                      <a:r>
                        <a:rPr lang="en-IN" dirty="0"/>
                        <a:t>50 epochs</a:t>
                      </a:r>
                    </a:p>
                  </a:txBody>
                  <a:tcPr/>
                </a:tc>
                <a:tc>
                  <a:txBody>
                    <a:bodyPr/>
                    <a:lstStyle/>
                    <a:p>
                      <a:r>
                        <a:rPr lang="en-IN" dirty="0"/>
                        <a:t>100 epochs </a:t>
                      </a:r>
                    </a:p>
                  </a:txBody>
                  <a:tcPr/>
                </a:tc>
                <a:tc>
                  <a:txBody>
                    <a:bodyPr/>
                    <a:lstStyle/>
                    <a:p>
                      <a:r>
                        <a:rPr lang="en-IN" dirty="0"/>
                        <a:t>200 epochs </a:t>
                      </a:r>
                    </a:p>
                  </a:txBody>
                  <a:tcPr/>
                </a:tc>
                <a:extLst>
                  <a:ext uri="{0D108BD9-81ED-4DB2-BD59-A6C34878D82A}">
                    <a16:rowId xmlns:a16="http://schemas.microsoft.com/office/drawing/2014/main" val="2409561927"/>
                  </a:ext>
                </a:extLst>
              </a:tr>
              <a:tr h="620539">
                <a:tc>
                  <a:txBody>
                    <a:bodyPr/>
                    <a:lstStyle/>
                    <a:p>
                      <a:r>
                        <a:rPr lang="en-IN" dirty="0"/>
                        <a:t>CNN-LSTM</a:t>
                      </a:r>
                    </a:p>
                  </a:txBody>
                  <a:tcPr/>
                </a:tc>
                <a:tc>
                  <a:txBody>
                    <a:bodyPr/>
                    <a:lstStyle/>
                    <a:p>
                      <a:r>
                        <a:rPr lang="en-IN" dirty="0"/>
                        <a:t>38%</a:t>
                      </a:r>
                    </a:p>
                  </a:txBody>
                  <a:tcPr/>
                </a:tc>
                <a:tc>
                  <a:txBody>
                    <a:bodyPr/>
                    <a:lstStyle/>
                    <a:p>
                      <a:r>
                        <a:rPr lang="en-IN" dirty="0"/>
                        <a:t>54%(5 minutes)</a:t>
                      </a:r>
                    </a:p>
                  </a:txBody>
                  <a:tcPr/>
                </a:tc>
                <a:tc>
                  <a:txBody>
                    <a:bodyPr/>
                    <a:lstStyle/>
                    <a:p>
                      <a:r>
                        <a:rPr lang="en-IN" dirty="0"/>
                        <a:t>55% (8.7 hours)</a:t>
                      </a:r>
                    </a:p>
                  </a:txBody>
                  <a:tcPr/>
                </a:tc>
                <a:tc>
                  <a:txBody>
                    <a:bodyPr/>
                    <a:lstStyle/>
                    <a:p>
                      <a:r>
                        <a:rPr lang="en-IN" dirty="0"/>
                        <a:t>59% (14 hours 25 minutes)</a:t>
                      </a:r>
                    </a:p>
                  </a:txBody>
                  <a:tcPr/>
                </a:tc>
                <a:extLst>
                  <a:ext uri="{0D108BD9-81ED-4DB2-BD59-A6C34878D82A}">
                    <a16:rowId xmlns:a16="http://schemas.microsoft.com/office/drawing/2014/main" val="2774649285"/>
                  </a:ext>
                </a:extLst>
              </a:tr>
              <a:tr h="24821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err="1"/>
                        <a:t>cnn_lstm_model</a:t>
                      </a:r>
                      <a:r>
                        <a:rPr lang="en-IN" sz="18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err="1"/>
                        <a:t>xception_lstm_model</a:t>
                      </a:r>
                      <a:endParaRPr lang="en-IN"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err="1"/>
                        <a:t>bidirectional_lstm_model</a:t>
                      </a:r>
                      <a:endParaRPr lang="en-IN" sz="1800" dirty="0"/>
                    </a:p>
                  </a:txBody>
                  <a:tcPr/>
                </a:tc>
                <a:tc>
                  <a:txBody>
                    <a:bodyPr/>
                    <a:lstStyle/>
                    <a:p>
                      <a:r>
                        <a:rPr lang="en-US" sz="1800" dirty="0"/>
                        <a:t>47.50%(12 minutes)</a:t>
                      </a:r>
                    </a:p>
                    <a:p>
                      <a:endParaRPr lang="en-US" sz="1800" dirty="0"/>
                    </a:p>
                    <a:p>
                      <a:r>
                        <a:rPr lang="en-US" sz="1800" dirty="0"/>
                        <a:t>55.00% (19.35minutes)</a:t>
                      </a:r>
                    </a:p>
                    <a:p>
                      <a:endParaRPr lang="en-US" sz="1800" dirty="0"/>
                    </a:p>
                    <a:p>
                      <a:r>
                        <a:rPr lang="en-US" sz="1800" dirty="0"/>
                        <a:t>52.50% </a:t>
                      </a:r>
                    </a:p>
                    <a:p>
                      <a:r>
                        <a:rPr lang="en-US" sz="1800" dirty="0"/>
                        <a:t>(18.15 minutes)</a:t>
                      </a:r>
                      <a:endParaRPr lang="en-IN" dirty="0"/>
                    </a:p>
                  </a:txBody>
                  <a:tcPr/>
                </a:tc>
                <a:tc>
                  <a:txBody>
                    <a:bodyPr/>
                    <a:lstStyle/>
                    <a:p>
                      <a:r>
                        <a:rPr lang="en-US" sz="1800" dirty="0"/>
                        <a:t>47.50% (1 hour 6 minutes)</a:t>
                      </a:r>
                    </a:p>
                    <a:p>
                      <a:endParaRPr lang="en-US" sz="1800" dirty="0"/>
                    </a:p>
                    <a:p>
                      <a:r>
                        <a:rPr lang="en-US" sz="1800" dirty="0"/>
                        <a:t>45.00%(1 hour 42 minutes 30 seconds)</a:t>
                      </a:r>
                    </a:p>
                    <a:p>
                      <a:endParaRPr lang="en-US" sz="1800" dirty="0"/>
                    </a:p>
                    <a:p>
                      <a:r>
                        <a:rPr lang="en-US" sz="1800" dirty="0"/>
                        <a:t> 52.50%(1 hour 30 minutes)</a:t>
                      </a:r>
                    </a:p>
                    <a:p>
                      <a:endParaRPr lang="en-IN" dirty="0"/>
                    </a:p>
                  </a:txBody>
                  <a:tcPr/>
                </a:tc>
                <a:tc>
                  <a:txBody>
                    <a:bodyPr/>
                    <a:lstStyle/>
                    <a:p>
                      <a:r>
                        <a:rPr lang="en-IN" dirty="0"/>
                        <a:t>56% (12 hours)</a:t>
                      </a:r>
                    </a:p>
                  </a:txBody>
                  <a:tcPr/>
                </a:tc>
                <a:tc>
                  <a:txBody>
                    <a:bodyPr/>
                    <a:lstStyle/>
                    <a:p>
                      <a:r>
                        <a:rPr lang="en-IN" dirty="0"/>
                        <a:t>58% (20 hours)</a:t>
                      </a:r>
                    </a:p>
                  </a:txBody>
                  <a:tcPr/>
                </a:tc>
                <a:extLst>
                  <a:ext uri="{0D108BD9-81ED-4DB2-BD59-A6C34878D82A}">
                    <a16:rowId xmlns:a16="http://schemas.microsoft.com/office/drawing/2014/main" val="745601868"/>
                  </a:ext>
                </a:extLst>
              </a:tr>
              <a:tr h="649159">
                <a:tc>
                  <a:txBody>
                    <a:bodyPr/>
                    <a:lstStyle/>
                    <a:p>
                      <a:r>
                        <a:rPr lang="en-IN" dirty="0" err="1"/>
                        <a:t>Tranfer</a:t>
                      </a:r>
                      <a:r>
                        <a:rPr lang="en-IN" dirty="0"/>
                        <a:t> learning with </a:t>
                      </a:r>
                      <a:r>
                        <a:rPr lang="en-IN" dirty="0" err="1"/>
                        <a:t>Xception</a:t>
                      </a:r>
                      <a:r>
                        <a:rPr lang="en-IN" dirty="0"/>
                        <a:t> as a base</a:t>
                      </a:r>
                    </a:p>
                  </a:txBody>
                  <a:tcPr/>
                </a:tc>
                <a:tc>
                  <a:txBody>
                    <a:bodyPr/>
                    <a:lstStyle/>
                    <a:p>
                      <a:r>
                        <a:rPr lang="en-US" dirty="0"/>
                        <a:t>58.75% (15 minutes)</a:t>
                      </a:r>
                      <a:endParaRPr lang="en-IN" dirty="0"/>
                    </a:p>
                  </a:txBody>
                  <a:tcPr/>
                </a:tc>
                <a:tc>
                  <a:txBody>
                    <a:bodyPr/>
                    <a:lstStyle/>
                    <a:p>
                      <a:r>
                        <a:rPr lang="en-US" dirty="0"/>
                        <a:t>70.63%(29 minutes 10 seconds)</a:t>
                      </a:r>
                      <a:endParaRPr lang="en-IN" dirty="0"/>
                    </a:p>
                  </a:txBody>
                  <a:tcPr/>
                </a:tc>
                <a:tc>
                  <a:txBody>
                    <a:bodyPr/>
                    <a:lstStyle/>
                    <a:p>
                      <a:r>
                        <a:rPr lang="en-IN" dirty="0"/>
                        <a:t>70% (6 hours)</a:t>
                      </a:r>
                    </a:p>
                  </a:txBody>
                  <a:tcPr/>
                </a:tc>
                <a:tc>
                  <a:txBody>
                    <a:bodyPr/>
                    <a:lstStyle/>
                    <a:p>
                      <a:r>
                        <a:rPr lang="en-IN" dirty="0"/>
                        <a:t>70% (10 hours)</a:t>
                      </a:r>
                    </a:p>
                  </a:txBody>
                  <a:tcPr/>
                </a:tc>
                <a:extLst>
                  <a:ext uri="{0D108BD9-81ED-4DB2-BD59-A6C34878D82A}">
                    <a16:rowId xmlns:a16="http://schemas.microsoft.com/office/drawing/2014/main" val="2169416815"/>
                  </a:ext>
                </a:extLst>
              </a:tr>
              <a:tr h="927369">
                <a:tc>
                  <a:txBody>
                    <a:bodyPr/>
                    <a:lstStyle/>
                    <a:p>
                      <a:r>
                        <a:rPr lang="en-IN" dirty="0" err="1"/>
                        <a:t>Xception</a:t>
                      </a:r>
                      <a:r>
                        <a:rPr lang="en-IN" dirty="0"/>
                        <a:t> as base and </a:t>
                      </a:r>
                      <a:r>
                        <a:rPr lang="en-IN" dirty="0" err="1"/>
                        <a:t>Vgg</a:t>
                      </a:r>
                      <a:r>
                        <a:rPr lang="en-IN" dirty="0"/>
                        <a:t> 16 as a branch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58.75%(</a:t>
                      </a:r>
                      <a:r>
                        <a:rPr lang="en-IN" dirty="0"/>
                        <a:t>30 min 30 second</a:t>
                      </a:r>
                      <a:r>
                        <a:rPr lang="en-US" dirty="0"/>
                        <a:t>)</a:t>
                      </a:r>
                    </a:p>
                    <a:p>
                      <a:endParaRPr lang="en-IN" dirty="0"/>
                    </a:p>
                  </a:txBody>
                  <a:tcPr/>
                </a:tc>
                <a:tc>
                  <a:txBody>
                    <a:bodyPr/>
                    <a:lstStyle/>
                    <a:p>
                      <a:r>
                        <a:rPr lang="en-IN" dirty="0"/>
                        <a:t>70%(</a:t>
                      </a:r>
                      <a:r>
                        <a:rPr lang="en-US" dirty="0"/>
                        <a:t>2 Hours : 36 Minutes)</a:t>
                      </a:r>
                      <a:endParaRPr lang="en-IN" dirty="0"/>
                    </a:p>
                  </a:txBody>
                  <a:tcPr/>
                </a:tc>
                <a:tc>
                  <a:txBody>
                    <a:bodyPr/>
                    <a:lstStyle/>
                    <a:p>
                      <a:r>
                        <a:rPr lang="en-IN" dirty="0"/>
                        <a:t>71%(8 hours )</a:t>
                      </a:r>
                    </a:p>
                  </a:txBody>
                  <a:tcPr/>
                </a:tc>
                <a:tc>
                  <a:txBody>
                    <a:bodyPr/>
                    <a:lstStyle/>
                    <a:p>
                      <a:r>
                        <a:rPr lang="en-IN" dirty="0"/>
                        <a:t>72% (11 hours)</a:t>
                      </a:r>
                    </a:p>
                  </a:txBody>
                  <a:tcPr/>
                </a:tc>
                <a:extLst>
                  <a:ext uri="{0D108BD9-81ED-4DB2-BD59-A6C34878D82A}">
                    <a16:rowId xmlns:a16="http://schemas.microsoft.com/office/drawing/2014/main" val="2009213135"/>
                  </a:ext>
                </a:extLst>
              </a:tr>
              <a:tr h="886484">
                <a:tc>
                  <a:txBody>
                    <a:bodyPr/>
                    <a:lstStyle/>
                    <a:p>
                      <a:r>
                        <a:rPr lang="en-IN" dirty="0"/>
                        <a:t>CNN_LSTM and Attention Layer</a:t>
                      </a:r>
                    </a:p>
                  </a:txBody>
                  <a:tcPr/>
                </a:tc>
                <a:tc>
                  <a:txBody>
                    <a:bodyPr/>
                    <a:lstStyle/>
                    <a:p>
                      <a:r>
                        <a:rPr lang="en-IN" dirty="0"/>
                        <a:t>48%(</a:t>
                      </a:r>
                      <a:r>
                        <a:rPr lang="en-US" dirty="0"/>
                        <a:t>17 Minutes : 20 Seconds)</a:t>
                      </a:r>
                      <a:endParaRPr lang="en-IN" dirty="0"/>
                    </a:p>
                  </a:txBody>
                  <a:tcPr/>
                </a:tc>
                <a:tc>
                  <a:txBody>
                    <a:bodyPr/>
                    <a:lstStyle/>
                    <a:p>
                      <a:r>
                        <a:rPr lang="en-US" dirty="0"/>
                        <a:t>50.63%(1 Hour : 25 Minutes</a:t>
                      </a:r>
                    </a:p>
                  </a:txBody>
                  <a:tcPr/>
                </a:tc>
                <a:tc>
                  <a:txBody>
                    <a:bodyPr/>
                    <a:lstStyle/>
                    <a:p>
                      <a:r>
                        <a:rPr lang="en-US" dirty="0"/>
                        <a:t>56%(4 Hours : 11 Minutes : 40 Seconds)</a:t>
                      </a:r>
                      <a:endParaRPr lang="en-IN" dirty="0"/>
                    </a:p>
                  </a:txBody>
                  <a:tcPr/>
                </a:tc>
                <a:tc>
                  <a:txBody>
                    <a:bodyPr/>
                    <a:lstStyle/>
                    <a:p>
                      <a:r>
                        <a:rPr lang="en-US" dirty="0"/>
                        <a:t>51%(8 hours: 50 Minutes)</a:t>
                      </a:r>
                      <a:endParaRPr lang="en-IN" dirty="0"/>
                    </a:p>
                  </a:txBody>
                  <a:tcPr/>
                </a:tc>
                <a:extLst>
                  <a:ext uri="{0D108BD9-81ED-4DB2-BD59-A6C34878D82A}">
                    <a16:rowId xmlns:a16="http://schemas.microsoft.com/office/drawing/2014/main" val="3219504793"/>
                  </a:ext>
                </a:extLst>
              </a:tr>
            </a:tbl>
          </a:graphicData>
        </a:graphic>
      </p:graphicFrame>
    </p:spTree>
    <p:extLst>
      <p:ext uri="{BB962C8B-B14F-4D97-AF65-F5344CB8AC3E}">
        <p14:creationId xmlns:p14="http://schemas.microsoft.com/office/powerpoint/2010/main" val="37468545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C79F9-5403-3BC8-1C39-0C8FD351E2F0}"/>
              </a:ext>
            </a:extLst>
          </p:cNvPr>
          <p:cNvSpPr>
            <a:spLocks noGrp="1"/>
          </p:cNvSpPr>
          <p:nvPr>
            <p:ph type="title"/>
          </p:nvPr>
        </p:nvSpPr>
        <p:spPr>
          <a:xfrm>
            <a:off x="838200" y="365126"/>
            <a:ext cx="10515600" cy="592818"/>
          </a:xfrm>
        </p:spPr>
        <p:txBody>
          <a:bodyPr>
            <a:normAutofit fontScale="90000"/>
          </a:bodyPr>
          <a:lstStyle/>
          <a:p>
            <a:r>
              <a:rPr lang="en-IN" dirty="0"/>
              <a:t>Graphs</a:t>
            </a:r>
          </a:p>
        </p:txBody>
      </p:sp>
      <p:pic>
        <p:nvPicPr>
          <p:cNvPr id="4" name="Content Placeholder 3">
            <a:extLst>
              <a:ext uri="{FF2B5EF4-FFF2-40B4-BE49-F238E27FC236}">
                <a16:creationId xmlns:a16="http://schemas.microsoft.com/office/drawing/2014/main" id="{0F548A63-1E24-D058-ED8D-61118B84FD1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25143" y="1484651"/>
            <a:ext cx="7359008" cy="4415405"/>
          </a:xfrm>
          <a:prstGeom prst="rect">
            <a:avLst/>
          </a:prstGeom>
        </p:spPr>
      </p:pic>
      <p:sp>
        <p:nvSpPr>
          <p:cNvPr id="6" name="TextBox 5">
            <a:extLst>
              <a:ext uri="{FF2B5EF4-FFF2-40B4-BE49-F238E27FC236}">
                <a16:creationId xmlns:a16="http://schemas.microsoft.com/office/drawing/2014/main" id="{28E65355-0691-CA2B-4BCD-1AF3732765E1}"/>
              </a:ext>
            </a:extLst>
          </p:cNvPr>
          <p:cNvSpPr txBox="1"/>
          <p:nvPr/>
        </p:nvSpPr>
        <p:spPr>
          <a:xfrm>
            <a:off x="5061989" y="957944"/>
            <a:ext cx="1556657" cy="461665"/>
          </a:xfrm>
          <a:prstGeom prst="rect">
            <a:avLst/>
          </a:prstGeom>
          <a:noFill/>
        </p:spPr>
        <p:txBody>
          <a:bodyPr wrap="square" rtlCol="0">
            <a:spAutoFit/>
          </a:bodyPr>
          <a:lstStyle/>
          <a:p>
            <a:r>
              <a:rPr lang="en-IN" sz="2400" dirty="0"/>
              <a:t>CNN-LSTM</a:t>
            </a:r>
          </a:p>
        </p:txBody>
      </p:sp>
      <p:sp>
        <p:nvSpPr>
          <p:cNvPr id="3" name="TextBox 2">
            <a:extLst>
              <a:ext uri="{FF2B5EF4-FFF2-40B4-BE49-F238E27FC236}">
                <a16:creationId xmlns:a16="http://schemas.microsoft.com/office/drawing/2014/main" id="{BA5EFD40-59A7-F92C-CA2B-975BE209DDD0}"/>
              </a:ext>
            </a:extLst>
          </p:cNvPr>
          <p:cNvSpPr txBox="1"/>
          <p:nvPr/>
        </p:nvSpPr>
        <p:spPr>
          <a:xfrm>
            <a:off x="620486" y="2684561"/>
            <a:ext cx="4604657" cy="1754326"/>
          </a:xfrm>
          <a:prstGeom prst="rect">
            <a:avLst/>
          </a:prstGeom>
          <a:noFill/>
        </p:spPr>
        <p:txBody>
          <a:bodyPr wrap="square" rtlCol="0">
            <a:spAutoFit/>
          </a:bodyPr>
          <a:lstStyle/>
          <a:p>
            <a:r>
              <a:rPr lang="en-US" dirty="0"/>
              <a:t>The blue line represents training accuracy.</a:t>
            </a:r>
          </a:p>
          <a:p>
            <a:r>
              <a:rPr lang="en-US" dirty="0"/>
              <a:t>The orange line represents validation accuracy.</a:t>
            </a:r>
          </a:p>
          <a:p>
            <a:r>
              <a:rPr lang="en-US" dirty="0"/>
              <a:t>It remains relatively stable but low (around 0.5–0.55), indicating that the model is not generalizing well to unseen data.</a:t>
            </a:r>
          </a:p>
          <a:p>
            <a:endParaRPr lang="en-US" dirty="0"/>
          </a:p>
        </p:txBody>
      </p:sp>
    </p:spTree>
    <p:extLst>
      <p:ext uri="{BB962C8B-B14F-4D97-AF65-F5344CB8AC3E}">
        <p14:creationId xmlns:p14="http://schemas.microsoft.com/office/powerpoint/2010/main" val="19567215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61D64-5478-5435-1A26-E6C4EE6ADF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E79D21-1DBF-B6BD-48D2-98646F9C1E07}"/>
              </a:ext>
            </a:extLst>
          </p:cNvPr>
          <p:cNvSpPr>
            <a:spLocks noGrp="1"/>
          </p:cNvSpPr>
          <p:nvPr>
            <p:ph type="title"/>
          </p:nvPr>
        </p:nvSpPr>
        <p:spPr>
          <a:xfrm>
            <a:off x="838200" y="365126"/>
            <a:ext cx="10515600" cy="592818"/>
          </a:xfrm>
        </p:spPr>
        <p:txBody>
          <a:bodyPr>
            <a:normAutofit fontScale="90000"/>
          </a:bodyPr>
          <a:lstStyle/>
          <a:p>
            <a:r>
              <a:rPr lang="en-IN" dirty="0"/>
              <a:t>Graphs</a:t>
            </a:r>
          </a:p>
        </p:txBody>
      </p:sp>
      <p:sp>
        <p:nvSpPr>
          <p:cNvPr id="6" name="TextBox 5">
            <a:extLst>
              <a:ext uri="{FF2B5EF4-FFF2-40B4-BE49-F238E27FC236}">
                <a16:creationId xmlns:a16="http://schemas.microsoft.com/office/drawing/2014/main" id="{BBCF5C59-672A-D814-E619-1900254BD7A2}"/>
              </a:ext>
            </a:extLst>
          </p:cNvPr>
          <p:cNvSpPr txBox="1"/>
          <p:nvPr/>
        </p:nvSpPr>
        <p:spPr>
          <a:xfrm>
            <a:off x="4283594" y="430702"/>
            <a:ext cx="2623325" cy="461665"/>
          </a:xfrm>
          <a:prstGeom prst="rect">
            <a:avLst/>
          </a:prstGeom>
          <a:noFill/>
        </p:spPr>
        <p:txBody>
          <a:bodyPr wrap="square" rtlCol="0">
            <a:spAutoFit/>
          </a:bodyPr>
          <a:lstStyle/>
          <a:p>
            <a:r>
              <a:rPr lang="en-IN" sz="2400" dirty="0" err="1"/>
              <a:t>Ensembling</a:t>
            </a:r>
            <a:r>
              <a:rPr lang="en-IN" sz="2400" dirty="0"/>
              <a:t> Model</a:t>
            </a:r>
          </a:p>
        </p:txBody>
      </p:sp>
      <p:sp>
        <p:nvSpPr>
          <p:cNvPr id="5" name="Content Placeholder 4">
            <a:extLst>
              <a:ext uri="{FF2B5EF4-FFF2-40B4-BE49-F238E27FC236}">
                <a16:creationId xmlns:a16="http://schemas.microsoft.com/office/drawing/2014/main" id="{202CA938-8339-5E11-8398-9CEE58C9BF6F}"/>
              </a:ext>
            </a:extLst>
          </p:cNvPr>
          <p:cNvSpPr>
            <a:spLocks noGrp="1"/>
          </p:cNvSpPr>
          <p:nvPr>
            <p:ph idx="1"/>
          </p:nvPr>
        </p:nvSpPr>
        <p:spPr>
          <a:xfrm>
            <a:off x="838200" y="1825625"/>
            <a:ext cx="5464629" cy="4351338"/>
          </a:xfrm>
        </p:spPr>
        <p:txBody>
          <a:bodyPr>
            <a:normAutofit fontScale="85000" lnSpcReduction="20000"/>
          </a:bodyPr>
          <a:lstStyle/>
          <a:p>
            <a:pPr marL="0" indent="0" algn="just">
              <a:buNone/>
            </a:pPr>
            <a:r>
              <a:rPr lang="en-US" b="1" dirty="0"/>
              <a:t>Model-Specific Insights</a:t>
            </a:r>
          </a:p>
          <a:p>
            <a:pPr algn="just">
              <a:buFont typeface="Arial" panose="020B0604020202020204" pitchFamily="34" charset="0"/>
              <a:buChar char="•"/>
            </a:pPr>
            <a:r>
              <a:rPr lang="en-US" b="1" dirty="0"/>
              <a:t>Model 1</a:t>
            </a:r>
            <a:r>
              <a:rPr lang="en-US" dirty="0"/>
              <a:t>:</a:t>
            </a:r>
          </a:p>
          <a:p>
            <a:pPr marL="742950" lvl="1" indent="-285750" algn="just">
              <a:buFont typeface="Arial" panose="020B0604020202020204" pitchFamily="34" charset="0"/>
              <a:buChar char="•"/>
            </a:pPr>
            <a:r>
              <a:rPr lang="en-US" dirty="0"/>
              <a:t>Shows steady improvement in training accuracy over time, but validation accuracy remains erratic and does not significantly improve.</a:t>
            </a:r>
          </a:p>
          <a:p>
            <a:pPr algn="just">
              <a:buFont typeface="Arial" panose="020B0604020202020204" pitchFamily="34" charset="0"/>
              <a:buChar char="•"/>
            </a:pPr>
            <a:r>
              <a:rPr lang="en-US" b="1" dirty="0"/>
              <a:t>Model 2</a:t>
            </a:r>
            <a:r>
              <a:rPr lang="en-US" dirty="0"/>
              <a:t>:</a:t>
            </a:r>
          </a:p>
          <a:p>
            <a:pPr marL="742950" lvl="1" indent="-285750" algn="just">
              <a:buFont typeface="Arial" panose="020B0604020202020204" pitchFamily="34" charset="0"/>
              <a:buChar char="•"/>
            </a:pPr>
            <a:r>
              <a:rPr lang="en-US" dirty="0"/>
              <a:t>Performs poorly on both training and validation sets, suggesting it might not be learning effectively from the dataset.</a:t>
            </a:r>
          </a:p>
          <a:p>
            <a:pPr algn="just">
              <a:buFont typeface="Arial" panose="020B0604020202020204" pitchFamily="34" charset="0"/>
              <a:buChar char="•"/>
            </a:pPr>
            <a:r>
              <a:rPr lang="en-US" b="1" dirty="0"/>
              <a:t>Model 3</a:t>
            </a:r>
            <a:r>
              <a:rPr lang="en-US" dirty="0"/>
              <a:t>:</a:t>
            </a:r>
          </a:p>
          <a:p>
            <a:pPr marL="742950" lvl="1" indent="-285750" algn="just">
              <a:buFont typeface="Arial" panose="020B0604020202020204" pitchFamily="34" charset="0"/>
              <a:buChar char="•"/>
            </a:pPr>
            <a:r>
              <a:rPr lang="en-US" dirty="0"/>
              <a:t>Achieves the highest training accuracy among the three but has validation accuracy fluctuations similar to Model 1, indicating overfitting.</a:t>
            </a:r>
          </a:p>
          <a:p>
            <a:pPr algn="just"/>
            <a:endParaRPr lang="en-IN" dirty="0"/>
          </a:p>
        </p:txBody>
      </p:sp>
      <p:pic>
        <p:nvPicPr>
          <p:cNvPr id="4" name="Picture 3">
            <a:extLst>
              <a:ext uri="{FF2B5EF4-FFF2-40B4-BE49-F238E27FC236}">
                <a16:creationId xmlns:a16="http://schemas.microsoft.com/office/drawing/2014/main" id="{4026C5D3-B915-9138-2344-35440FC50B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06532" y="227431"/>
            <a:ext cx="5223634" cy="3196388"/>
          </a:xfrm>
          <a:prstGeom prst="rect">
            <a:avLst/>
          </a:prstGeom>
        </p:spPr>
      </p:pic>
      <p:pic>
        <p:nvPicPr>
          <p:cNvPr id="7" name="Content Placeholder 3">
            <a:extLst>
              <a:ext uri="{FF2B5EF4-FFF2-40B4-BE49-F238E27FC236}">
                <a16:creationId xmlns:a16="http://schemas.microsoft.com/office/drawing/2014/main" id="{1A4E9F32-6DE7-5AE5-6E5C-169F444ED132}"/>
              </a:ext>
            </a:extLst>
          </p:cNvPr>
          <p:cNvPicPr>
            <a:picLocks noChangeAspect="1"/>
          </p:cNvPicPr>
          <p:nvPr/>
        </p:nvPicPr>
        <p:blipFill>
          <a:blip r:embed="rId3">
            <a:extLst>
              <a:ext uri="{28A0092B-C50C-407E-A947-70E740481C1C}">
                <a14:useLocalDpi xmlns:a14="http://schemas.microsoft.com/office/drawing/2010/main" val="0"/>
              </a:ext>
            </a:extLst>
          </a:blip>
          <a:srcRect r="49632"/>
          <a:stretch/>
        </p:blipFill>
        <p:spPr>
          <a:xfrm>
            <a:off x="7627868" y="3205390"/>
            <a:ext cx="3973972" cy="3287484"/>
          </a:xfrm>
          <a:prstGeom prst="rect">
            <a:avLst/>
          </a:prstGeom>
        </p:spPr>
      </p:pic>
    </p:spTree>
    <p:extLst>
      <p:ext uri="{BB962C8B-B14F-4D97-AF65-F5344CB8AC3E}">
        <p14:creationId xmlns:p14="http://schemas.microsoft.com/office/powerpoint/2010/main" val="6041552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E0A8C-BBBC-8FED-A8AF-646C1A526C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B91DFE-9AB2-6FC4-82F0-7D4EBBCD77D0}"/>
              </a:ext>
            </a:extLst>
          </p:cNvPr>
          <p:cNvSpPr>
            <a:spLocks noGrp="1"/>
          </p:cNvSpPr>
          <p:nvPr>
            <p:ph type="title"/>
          </p:nvPr>
        </p:nvSpPr>
        <p:spPr>
          <a:xfrm>
            <a:off x="838200" y="365126"/>
            <a:ext cx="10515600" cy="592818"/>
          </a:xfrm>
        </p:spPr>
        <p:txBody>
          <a:bodyPr>
            <a:normAutofit fontScale="90000"/>
          </a:bodyPr>
          <a:lstStyle/>
          <a:p>
            <a:r>
              <a:rPr lang="en-IN" dirty="0"/>
              <a:t>Graphs</a:t>
            </a:r>
          </a:p>
        </p:txBody>
      </p:sp>
      <p:sp>
        <p:nvSpPr>
          <p:cNvPr id="6" name="TextBox 5">
            <a:extLst>
              <a:ext uri="{FF2B5EF4-FFF2-40B4-BE49-F238E27FC236}">
                <a16:creationId xmlns:a16="http://schemas.microsoft.com/office/drawing/2014/main" id="{CBDB39B9-EB69-A33F-B75A-EA48A739CD19}"/>
              </a:ext>
            </a:extLst>
          </p:cNvPr>
          <p:cNvSpPr txBox="1"/>
          <p:nvPr/>
        </p:nvSpPr>
        <p:spPr>
          <a:xfrm>
            <a:off x="5061989" y="957944"/>
            <a:ext cx="2460040" cy="461665"/>
          </a:xfrm>
          <a:prstGeom prst="rect">
            <a:avLst/>
          </a:prstGeom>
          <a:noFill/>
        </p:spPr>
        <p:txBody>
          <a:bodyPr wrap="square" rtlCol="0">
            <a:spAutoFit/>
          </a:bodyPr>
          <a:lstStyle/>
          <a:p>
            <a:r>
              <a:rPr lang="en-IN" sz="2400" dirty="0"/>
              <a:t>Transfer learning </a:t>
            </a:r>
          </a:p>
        </p:txBody>
      </p:sp>
      <p:sp>
        <p:nvSpPr>
          <p:cNvPr id="5" name="Content Placeholder 4">
            <a:extLst>
              <a:ext uri="{FF2B5EF4-FFF2-40B4-BE49-F238E27FC236}">
                <a16:creationId xmlns:a16="http://schemas.microsoft.com/office/drawing/2014/main" id="{0020A813-2D39-C27C-8126-2E6CDBFB84DE}"/>
              </a:ext>
            </a:extLst>
          </p:cNvPr>
          <p:cNvSpPr>
            <a:spLocks noGrp="1"/>
          </p:cNvSpPr>
          <p:nvPr>
            <p:ph idx="1"/>
          </p:nvPr>
        </p:nvSpPr>
        <p:spPr>
          <a:xfrm>
            <a:off x="838200" y="1825625"/>
            <a:ext cx="5094514" cy="4351338"/>
          </a:xfrm>
        </p:spPr>
        <p:txBody>
          <a:bodyPr/>
          <a:lstStyle/>
          <a:p>
            <a:pPr marL="0" indent="0" algn="just">
              <a:buNone/>
            </a:pPr>
            <a:r>
              <a:rPr lang="en-US" b="1" dirty="0"/>
              <a:t>Pretrained Features</a:t>
            </a:r>
            <a:r>
              <a:rPr lang="en-US" dirty="0"/>
              <a:t>:</a:t>
            </a:r>
          </a:p>
          <a:p>
            <a:pPr marL="0" indent="0" algn="just">
              <a:buNone/>
            </a:pPr>
            <a:r>
              <a:rPr lang="en-US" dirty="0"/>
              <a:t>While </a:t>
            </a:r>
            <a:r>
              <a:rPr lang="en-US" dirty="0" err="1"/>
              <a:t>Xception</a:t>
            </a:r>
            <a:r>
              <a:rPr lang="en-US" dirty="0"/>
              <a:t> is a powerful feature extractor, its pre-trained weights might not fully align with the task of deepfake detection, requiring fine-tuning of some layers. </a:t>
            </a:r>
            <a:r>
              <a:rPr lang="en-US" dirty="0" err="1"/>
              <a:t>Xception</a:t>
            </a:r>
            <a:r>
              <a:rPr lang="en-US" dirty="0"/>
              <a:t> is good for hierarchical feature </a:t>
            </a:r>
          </a:p>
          <a:p>
            <a:pPr marL="0" indent="0" algn="just">
              <a:buNone/>
            </a:pPr>
            <a:endParaRPr lang="en-IN" dirty="0"/>
          </a:p>
        </p:txBody>
      </p:sp>
      <p:pic>
        <p:nvPicPr>
          <p:cNvPr id="7" name="Picture 6">
            <a:extLst>
              <a:ext uri="{FF2B5EF4-FFF2-40B4-BE49-F238E27FC236}">
                <a16:creationId xmlns:a16="http://schemas.microsoft.com/office/drawing/2014/main" id="{96368903-56E7-43E3-9974-75B70280B9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8199" y="2189496"/>
            <a:ext cx="5969241" cy="3573616"/>
          </a:xfrm>
          <a:prstGeom prst="rect">
            <a:avLst/>
          </a:prstGeom>
        </p:spPr>
      </p:pic>
    </p:spTree>
    <p:extLst>
      <p:ext uri="{BB962C8B-B14F-4D97-AF65-F5344CB8AC3E}">
        <p14:creationId xmlns:p14="http://schemas.microsoft.com/office/powerpoint/2010/main" val="36241011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8D440-FED0-8B2A-C44A-2F7762403F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D60A8A-9239-9EE0-8664-1B0E51550BA7}"/>
              </a:ext>
            </a:extLst>
          </p:cNvPr>
          <p:cNvSpPr>
            <a:spLocks noGrp="1"/>
          </p:cNvSpPr>
          <p:nvPr>
            <p:ph type="title"/>
          </p:nvPr>
        </p:nvSpPr>
        <p:spPr>
          <a:xfrm>
            <a:off x="838200" y="365126"/>
            <a:ext cx="10515600" cy="592818"/>
          </a:xfrm>
        </p:spPr>
        <p:txBody>
          <a:bodyPr>
            <a:normAutofit fontScale="90000"/>
          </a:bodyPr>
          <a:lstStyle/>
          <a:p>
            <a:r>
              <a:rPr lang="en-IN" dirty="0"/>
              <a:t>Graphs</a:t>
            </a:r>
          </a:p>
        </p:txBody>
      </p:sp>
      <p:sp>
        <p:nvSpPr>
          <p:cNvPr id="6" name="TextBox 5">
            <a:extLst>
              <a:ext uri="{FF2B5EF4-FFF2-40B4-BE49-F238E27FC236}">
                <a16:creationId xmlns:a16="http://schemas.microsoft.com/office/drawing/2014/main" id="{D3120D00-2826-915C-1984-16974779A5FB}"/>
              </a:ext>
            </a:extLst>
          </p:cNvPr>
          <p:cNvSpPr txBox="1"/>
          <p:nvPr/>
        </p:nvSpPr>
        <p:spPr>
          <a:xfrm>
            <a:off x="4659217" y="928611"/>
            <a:ext cx="3515954" cy="461665"/>
          </a:xfrm>
          <a:prstGeom prst="rect">
            <a:avLst/>
          </a:prstGeom>
          <a:noFill/>
        </p:spPr>
        <p:txBody>
          <a:bodyPr wrap="square" rtlCol="0">
            <a:spAutoFit/>
          </a:bodyPr>
          <a:lstStyle/>
          <a:p>
            <a:r>
              <a:rPr lang="en-IN" sz="2400" dirty="0"/>
              <a:t>Hybrid Transfer learning </a:t>
            </a:r>
          </a:p>
        </p:txBody>
      </p:sp>
      <p:sp>
        <p:nvSpPr>
          <p:cNvPr id="5" name="Content Placeholder 4">
            <a:extLst>
              <a:ext uri="{FF2B5EF4-FFF2-40B4-BE49-F238E27FC236}">
                <a16:creationId xmlns:a16="http://schemas.microsoft.com/office/drawing/2014/main" id="{370AE2B8-6F05-B366-A64B-7F9AB0A40A4C}"/>
              </a:ext>
            </a:extLst>
          </p:cNvPr>
          <p:cNvSpPr>
            <a:spLocks noGrp="1"/>
          </p:cNvSpPr>
          <p:nvPr>
            <p:ph idx="1"/>
          </p:nvPr>
        </p:nvSpPr>
        <p:spPr>
          <a:xfrm>
            <a:off x="838200" y="1899332"/>
            <a:ext cx="5094514" cy="4351338"/>
          </a:xfrm>
        </p:spPr>
        <p:txBody>
          <a:bodyPr>
            <a:normAutofit/>
          </a:bodyPr>
          <a:lstStyle/>
          <a:p>
            <a:pPr algn="just"/>
            <a:r>
              <a:rPr lang="en-US" sz="2000" dirty="0"/>
              <a:t>While </a:t>
            </a:r>
            <a:r>
              <a:rPr lang="en-US" sz="2000" dirty="0" err="1"/>
              <a:t>Xception</a:t>
            </a:r>
            <a:r>
              <a:rPr lang="en-US" sz="2000" dirty="0"/>
              <a:t> is a powerful feature extractor to enhance the model and make a model more powerful VGG16 was added in the Transfer learning.</a:t>
            </a:r>
          </a:p>
          <a:p>
            <a:pPr algn="just"/>
            <a:r>
              <a:rPr lang="en-US" sz="2000" dirty="0"/>
              <a:t>By combining the state-of-the-art (</a:t>
            </a:r>
            <a:r>
              <a:rPr lang="en-US" sz="2000" dirty="0" err="1"/>
              <a:t>Xception</a:t>
            </a:r>
            <a:r>
              <a:rPr lang="en-US" sz="2000" dirty="0"/>
              <a:t>) and the classic (VGG16), this hybrid architecture creates a powerful and versatile transfer learning framework.</a:t>
            </a:r>
            <a:endParaRPr lang="en-IN" sz="2000" dirty="0"/>
          </a:p>
        </p:txBody>
      </p:sp>
      <p:pic>
        <p:nvPicPr>
          <p:cNvPr id="3" name="Content Placeholder 3">
            <a:extLst>
              <a:ext uri="{FF2B5EF4-FFF2-40B4-BE49-F238E27FC236}">
                <a16:creationId xmlns:a16="http://schemas.microsoft.com/office/drawing/2014/main" id="{C4918185-D7C0-03A1-C098-AD653E818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447800"/>
            <a:ext cx="5735333" cy="4438195"/>
          </a:xfrm>
          <a:prstGeom prst="rect">
            <a:avLst/>
          </a:prstGeom>
        </p:spPr>
      </p:pic>
    </p:spTree>
    <p:extLst>
      <p:ext uri="{BB962C8B-B14F-4D97-AF65-F5344CB8AC3E}">
        <p14:creationId xmlns:p14="http://schemas.microsoft.com/office/powerpoint/2010/main" val="35622407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09F8-E891-5F62-7292-FF5B983AB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B8ADE1-7832-4331-9DD0-0304EAA33E59}"/>
              </a:ext>
            </a:extLst>
          </p:cNvPr>
          <p:cNvSpPr>
            <a:spLocks noGrp="1"/>
          </p:cNvSpPr>
          <p:nvPr>
            <p:ph type="title"/>
          </p:nvPr>
        </p:nvSpPr>
        <p:spPr>
          <a:xfrm>
            <a:off x="838200" y="365126"/>
            <a:ext cx="10515600" cy="592818"/>
          </a:xfrm>
        </p:spPr>
        <p:txBody>
          <a:bodyPr>
            <a:normAutofit fontScale="90000"/>
          </a:bodyPr>
          <a:lstStyle/>
          <a:p>
            <a:r>
              <a:rPr lang="en-IN" dirty="0"/>
              <a:t>Graphs</a:t>
            </a:r>
          </a:p>
        </p:txBody>
      </p:sp>
      <p:sp>
        <p:nvSpPr>
          <p:cNvPr id="6" name="TextBox 5">
            <a:extLst>
              <a:ext uri="{FF2B5EF4-FFF2-40B4-BE49-F238E27FC236}">
                <a16:creationId xmlns:a16="http://schemas.microsoft.com/office/drawing/2014/main" id="{DBB8B565-67D9-471F-7626-FF3B264FF390}"/>
              </a:ext>
            </a:extLst>
          </p:cNvPr>
          <p:cNvSpPr txBox="1"/>
          <p:nvPr/>
        </p:nvSpPr>
        <p:spPr>
          <a:xfrm>
            <a:off x="4343400" y="648840"/>
            <a:ext cx="4620266" cy="646331"/>
          </a:xfrm>
          <a:prstGeom prst="rect">
            <a:avLst/>
          </a:prstGeom>
          <a:noFill/>
        </p:spPr>
        <p:txBody>
          <a:bodyPr wrap="square" rtlCol="0">
            <a:spAutoFit/>
          </a:bodyPr>
          <a:lstStyle/>
          <a:p>
            <a:r>
              <a:rPr lang="en-IN" sz="3600" dirty="0"/>
              <a:t>Attention mechanism</a:t>
            </a:r>
            <a:r>
              <a:rPr lang="en-IN" sz="2400" dirty="0"/>
              <a:t> </a:t>
            </a:r>
          </a:p>
        </p:txBody>
      </p:sp>
      <p:pic>
        <p:nvPicPr>
          <p:cNvPr id="3" name="Picture 2">
            <a:extLst>
              <a:ext uri="{FF2B5EF4-FFF2-40B4-BE49-F238E27FC236}">
                <a16:creationId xmlns:a16="http://schemas.microsoft.com/office/drawing/2014/main" id="{ADE071C9-9E40-35FF-FCE1-5F3AE45FDC71}"/>
              </a:ext>
            </a:extLst>
          </p:cNvPr>
          <p:cNvPicPr>
            <a:picLocks noChangeAspect="1"/>
          </p:cNvPicPr>
          <p:nvPr/>
        </p:nvPicPr>
        <p:blipFill>
          <a:blip r:embed="rId2">
            <a:extLst>
              <a:ext uri="{28A0092B-C50C-407E-A947-70E740481C1C}">
                <a14:useLocalDpi xmlns:a14="http://schemas.microsoft.com/office/drawing/2010/main" val="0"/>
              </a:ext>
            </a:extLst>
          </a:blip>
          <a:srcRect l="1" r="49685"/>
          <a:stretch/>
        </p:blipFill>
        <p:spPr>
          <a:xfrm>
            <a:off x="6653533" y="1460726"/>
            <a:ext cx="5334001" cy="4667250"/>
          </a:xfrm>
          <a:prstGeom prst="rect">
            <a:avLst/>
          </a:prstGeom>
        </p:spPr>
      </p:pic>
      <p:sp>
        <p:nvSpPr>
          <p:cNvPr id="10" name="TextBox 9">
            <a:extLst>
              <a:ext uri="{FF2B5EF4-FFF2-40B4-BE49-F238E27FC236}">
                <a16:creationId xmlns:a16="http://schemas.microsoft.com/office/drawing/2014/main" id="{8148FC73-3F8D-9779-72D1-57EB63DD7F0D}"/>
              </a:ext>
            </a:extLst>
          </p:cNvPr>
          <p:cNvSpPr txBox="1"/>
          <p:nvPr/>
        </p:nvSpPr>
        <p:spPr>
          <a:xfrm>
            <a:off x="827313" y="1853309"/>
            <a:ext cx="5007429" cy="3970318"/>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Focus on Important Features</a:t>
            </a:r>
            <a:r>
              <a:rPr lang="en-US" dirty="0">
                <a:latin typeface="Times New Roman" panose="02020603050405020304" pitchFamily="18" charset="0"/>
                <a:cs typeface="Times New Roman" panose="02020603050405020304" pitchFamily="18" charset="0"/>
              </a:rPr>
              <a:t>: In deepfake detection, attention can prioritize regions of the image or frames in a video where manipulations are likely to occur (e.g., facial areas or subtle inconsistencies).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Reduce Noise</a:t>
            </a:r>
            <a:r>
              <a:rPr lang="en-US" dirty="0">
                <a:latin typeface="Times New Roman" panose="02020603050405020304" pitchFamily="18" charset="0"/>
                <a:cs typeface="Times New Roman" panose="02020603050405020304" pitchFamily="18" charset="0"/>
              </a:rPr>
              <a:t>: By focusing on relevant spatial and temporal features, the model avoids irrelevant information that could degrade performance.</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Enhance Interpretability</a:t>
            </a:r>
            <a:r>
              <a:rPr lang="en-US" dirty="0">
                <a:latin typeface="Times New Roman" panose="02020603050405020304" pitchFamily="18" charset="0"/>
                <a:cs typeface="Times New Roman" panose="02020603050405020304" pitchFamily="18" charset="0"/>
              </a:rPr>
              <a:t>: Attention mechanisms provide insights into which parts of the input data influence the model’s decisions.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55354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B1A4-99ED-A41B-97DF-6C8F588DA27E}"/>
              </a:ext>
            </a:extLst>
          </p:cNvPr>
          <p:cNvSpPr>
            <a:spLocks noGrp="1"/>
          </p:cNvSpPr>
          <p:nvPr>
            <p:ph type="title"/>
          </p:nvPr>
        </p:nvSpPr>
        <p:spPr>
          <a:xfrm>
            <a:off x="827314" y="365126"/>
            <a:ext cx="10526486" cy="571046"/>
          </a:xfrm>
        </p:spPr>
        <p:txBody>
          <a:bodyPr>
            <a:normAutofit fontScale="90000"/>
          </a:bodyPr>
          <a:lstStyle/>
          <a:p>
            <a:r>
              <a:rPr lang="en-US" dirty="0"/>
              <a:t>OUTPUT</a:t>
            </a:r>
            <a:endParaRPr lang="en-IN" dirty="0"/>
          </a:p>
        </p:txBody>
      </p:sp>
      <p:pic>
        <p:nvPicPr>
          <p:cNvPr id="5" name="Content Placeholder 4">
            <a:extLst>
              <a:ext uri="{FF2B5EF4-FFF2-40B4-BE49-F238E27FC236}">
                <a16:creationId xmlns:a16="http://schemas.microsoft.com/office/drawing/2014/main" id="{2444CD1C-0808-4ACD-16C3-E9CA84DC4C27}"/>
              </a:ext>
            </a:extLst>
          </p:cNvPr>
          <p:cNvPicPr>
            <a:picLocks noGrp="1" noChangeAspect="1"/>
          </p:cNvPicPr>
          <p:nvPr>
            <p:ph idx="1"/>
          </p:nvPr>
        </p:nvPicPr>
        <p:blipFill>
          <a:blip r:embed="rId2"/>
          <a:stretch>
            <a:fillRect/>
          </a:stretch>
        </p:blipFill>
        <p:spPr>
          <a:xfrm>
            <a:off x="1361373" y="2539954"/>
            <a:ext cx="9665197" cy="1778091"/>
          </a:xfrm>
        </p:spPr>
      </p:pic>
    </p:spTree>
    <p:extLst>
      <p:ext uri="{BB962C8B-B14F-4D97-AF65-F5344CB8AC3E}">
        <p14:creationId xmlns:p14="http://schemas.microsoft.com/office/powerpoint/2010/main" val="32122514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65FDC58-8897-5D74-8868-B604F5CED2FA}"/>
              </a:ext>
            </a:extLst>
          </p:cNvPr>
          <p:cNvPicPr>
            <a:picLocks noGrp="1" noChangeAspect="1"/>
          </p:cNvPicPr>
          <p:nvPr>
            <p:ph idx="1"/>
          </p:nvPr>
        </p:nvPicPr>
        <p:blipFill>
          <a:blip r:embed="rId2"/>
          <a:stretch>
            <a:fillRect/>
          </a:stretch>
        </p:blipFill>
        <p:spPr>
          <a:xfrm>
            <a:off x="1159903" y="2577066"/>
            <a:ext cx="10193897" cy="2405942"/>
          </a:xfrm>
        </p:spPr>
      </p:pic>
    </p:spTree>
    <p:extLst>
      <p:ext uri="{BB962C8B-B14F-4D97-AF65-F5344CB8AC3E}">
        <p14:creationId xmlns:p14="http://schemas.microsoft.com/office/powerpoint/2010/main" val="8937929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2B10E-5624-7BBF-B2C1-41FB6C771D1D}"/>
              </a:ext>
            </a:extLst>
          </p:cNvPr>
          <p:cNvSpPr>
            <a:spLocks noGrp="1"/>
          </p:cNvSpPr>
          <p:nvPr>
            <p:ph type="title"/>
          </p:nvPr>
        </p:nvSpPr>
        <p:spPr/>
        <p:txBody>
          <a:bodyPr/>
          <a:lstStyle/>
          <a:p>
            <a:r>
              <a:rPr lang="en-US" b="1" dirty="0">
                <a:latin typeface="Arial Narrow" panose="020B0606020202030204" pitchFamily="34" charset="0"/>
              </a:rPr>
              <a:t>Conclusion</a:t>
            </a:r>
            <a:endParaRPr lang="en-IN" dirty="0"/>
          </a:p>
        </p:txBody>
      </p:sp>
      <p:sp>
        <p:nvSpPr>
          <p:cNvPr id="3" name="Content Placeholder 2">
            <a:extLst>
              <a:ext uri="{FF2B5EF4-FFF2-40B4-BE49-F238E27FC236}">
                <a16:creationId xmlns:a16="http://schemas.microsoft.com/office/drawing/2014/main" id="{7AE131BF-8243-40C4-9680-ECCC5E9D356D}"/>
              </a:ext>
            </a:extLst>
          </p:cNvPr>
          <p:cNvSpPr>
            <a:spLocks noGrp="1"/>
          </p:cNvSpPr>
          <p:nvPr>
            <p:ph idx="1"/>
          </p:nvPr>
        </p:nvSpPr>
        <p:spPr>
          <a:xfrm>
            <a:off x="838200" y="1825625"/>
            <a:ext cx="5551583" cy="4351338"/>
          </a:xfrm>
        </p:spPr>
        <p:txBody>
          <a:bodyPr>
            <a:normAutofit fontScale="70000" lnSpcReduction="20000"/>
          </a:bodyPr>
          <a:lstStyle/>
          <a:p>
            <a:pPr marL="0" indent="0">
              <a:lnSpc>
                <a:spcPct val="120000"/>
              </a:lnSpc>
              <a:buNone/>
            </a:pPr>
            <a:r>
              <a:rPr lang="en-US" dirty="0"/>
              <a:t>This study presents a scalable and effective framework for detecting deepfake videos, leveraging the combined power of CNNs, LSTMs, and attention mechanisms. By analyzing spatial and temporal features, the proposed model achieves high accuracy in distinguishing between real and manipulated content. The results validate the effectiveness of deep learning in addressing the growing threat of deepfake technology. This research contributes to the field of digital forensics by offering a robust tool for preserving media authenticity and combating the misuse of generative technologies.</a:t>
            </a:r>
            <a:endParaRPr lang="en-IN" dirty="0"/>
          </a:p>
        </p:txBody>
      </p:sp>
      <p:pic>
        <p:nvPicPr>
          <p:cNvPr id="4098" name="Picture 2" descr="deepfake detection">
            <a:extLst>
              <a:ext uri="{FF2B5EF4-FFF2-40B4-BE49-F238E27FC236}">
                <a16:creationId xmlns:a16="http://schemas.microsoft.com/office/drawing/2014/main" id="{EF611EB9-3E5A-3835-87D6-C4892BA6E5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2463" y="1825625"/>
            <a:ext cx="435133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66816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Future Enhancement</a:t>
            </a:r>
            <a:endParaRPr lang="en-IN" b="1" dirty="0">
              <a:latin typeface="Arial Narrow" panose="020B0606020202030204" pitchFamily="34" charset="0"/>
            </a:endParaRPr>
          </a:p>
        </p:txBody>
      </p:sp>
      <p:sp>
        <p:nvSpPr>
          <p:cNvPr id="3" name="Content Placeholder 2"/>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By studying more on transfers learning and pretrained model we implemented for the better accuracy</a:t>
            </a:r>
          </a:p>
          <a:p>
            <a:r>
              <a:rPr lang="en-IN" dirty="0">
                <a:latin typeface="Times New Roman" panose="02020603050405020304" pitchFamily="18" charset="0"/>
                <a:cs typeface="Times New Roman" panose="02020603050405020304" pitchFamily="18" charset="0"/>
              </a:rPr>
              <a:t>Implementation in advance level of data augmentation to improve the accuracy </a:t>
            </a:r>
          </a:p>
          <a:p>
            <a:r>
              <a:rPr lang="en-IN" dirty="0">
                <a:latin typeface="Times New Roman" panose="02020603050405020304" pitchFamily="18" charset="0"/>
                <a:cs typeface="Times New Roman" panose="02020603050405020304" pitchFamily="18" charset="0"/>
              </a:rPr>
              <a:t>Adding more features to predict it and also combine all the process and convert to API or website </a:t>
            </a:r>
          </a:p>
        </p:txBody>
      </p:sp>
      <p:sp>
        <p:nvSpPr>
          <p:cNvPr id="4" name="Footer Placeholder 3"/>
          <p:cNvSpPr>
            <a:spLocks noGrp="1"/>
          </p:cNvSpPr>
          <p:nvPr>
            <p:ph type="ftr" sz="quarter" idx="11"/>
          </p:nvPr>
        </p:nvSpPr>
        <p:spPr/>
        <p:txBody>
          <a:bodyPr/>
          <a:lstStyle/>
          <a:p>
            <a:r>
              <a:rPr lang="en-IN" dirty="0"/>
              <a:t>CS7501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30</a:t>
            </a:fld>
            <a:endParaRPr lang="en-IN"/>
          </a:p>
        </p:txBody>
      </p:sp>
    </p:spTree>
    <p:extLst>
      <p:ext uri="{BB962C8B-B14F-4D97-AF65-F5344CB8AC3E}">
        <p14:creationId xmlns:p14="http://schemas.microsoft.com/office/powerpoint/2010/main" val="18105269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1512</TotalTime>
  <Words>2404</Words>
  <Application>Microsoft Office PowerPoint</Application>
  <PresentationFormat>Widescreen</PresentationFormat>
  <Paragraphs>178</Paragraphs>
  <Slides>30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Arial Narrow</vt:lpstr>
      <vt:lpstr>Calibri</vt:lpstr>
      <vt:lpstr>Calibri Light</vt:lpstr>
      <vt:lpstr>Times New Roman</vt:lpstr>
      <vt:lpstr>Office Theme</vt:lpstr>
      <vt:lpstr>PowerPoint Presentation</vt:lpstr>
      <vt:lpstr>Abstract</vt:lpstr>
      <vt:lpstr>INTRODUCTION</vt:lpstr>
      <vt:lpstr>Need of study</vt:lpstr>
      <vt:lpstr>Objectives</vt:lpstr>
      <vt:lpstr>PowerPoint Presentation</vt:lpstr>
      <vt:lpstr>Base Paper:</vt:lpstr>
      <vt:lpstr>PowerPoint Presentation</vt:lpstr>
      <vt:lpstr>Proposed Methodology</vt:lpstr>
      <vt:lpstr>PowerPoint Presentation</vt:lpstr>
      <vt:lpstr>PowerPoint Presentation</vt:lpstr>
      <vt:lpstr>PowerPoint Presentation</vt:lpstr>
      <vt:lpstr>PowerPoint Presentation</vt:lpstr>
      <vt:lpstr>PowerPoint Presentation</vt:lpstr>
      <vt:lpstr>Results and Discussion</vt:lpstr>
      <vt:lpstr>CNN-LSTM</vt:lpstr>
      <vt:lpstr>ENSEMBLING MODEL</vt:lpstr>
      <vt:lpstr>Transfer learning :Xception</vt:lpstr>
      <vt:lpstr>Transfer learning :Xception and VGG16</vt:lpstr>
      <vt:lpstr>ATTENTION MECHANISM</vt:lpstr>
      <vt:lpstr>Performance Analysis</vt:lpstr>
      <vt:lpstr>Graphs</vt:lpstr>
      <vt:lpstr>Graphs</vt:lpstr>
      <vt:lpstr>Graphs</vt:lpstr>
      <vt:lpstr>Graphs</vt:lpstr>
      <vt:lpstr>Graphs</vt:lpstr>
      <vt:lpstr>OUTPUT</vt:lpstr>
      <vt:lpstr>PowerPoint Presentation</vt:lpstr>
      <vt:lpstr>Conclusion</vt:lpstr>
      <vt:lpstr>Future Enhancement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ajmal a</dc:creator>
  <cp:lastModifiedBy>ajmal a</cp:lastModifiedBy>
  <cp:revision>14</cp:revision>
  <dcterms:created xsi:type="dcterms:W3CDTF">2024-11-28T04:36:17Z</dcterms:created>
  <dcterms:modified xsi:type="dcterms:W3CDTF">2024-12-02T19:55:47Z</dcterms:modified>
</cp:coreProperties>
</file>